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0034"/>
    <a:srgbClr val="ACA69B"/>
    <a:srgbClr val="A09C89"/>
    <a:srgbClr val="6E6A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23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1950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eg"/><Relationship Id="rId3" Type="http://schemas.openxmlformats.org/officeDocument/2006/relationships/image" Target="../media/image1.png"/><Relationship Id="rId7" Type="http://schemas.openxmlformats.org/officeDocument/2006/relationships/image" Target="../media/image2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jpe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jpe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6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1.png"/><Relationship Id="rId9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jpeg"/><Relationship Id="rId3" Type="http://schemas.openxmlformats.org/officeDocument/2006/relationships/image" Target="../media/image1.png"/><Relationship Id="rId7" Type="http://schemas.openxmlformats.org/officeDocument/2006/relationships/image" Target="../media/image3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jpeg"/><Relationship Id="rId5" Type="http://schemas.openxmlformats.org/officeDocument/2006/relationships/image" Target="../media/image44.png"/><Relationship Id="rId10" Type="http://schemas.openxmlformats.org/officeDocument/2006/relationships/image" Target="../media/image48.jpeg"/><Relationship Id="rId4" Type="http://schemas.openxmlformats.org/officeDocument/2006/relationships/image" Target="../media/image43.png"/><Relationship Id="rId9" Type="http://schemas.openxmlformats.org/officeDocument/2006/relationships/image" Target="../media/image47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jpeg"/><Relationship Id="rId3" Type="http://schemas.openxmlformats.org/officeDocument/2006/relationships/image" Target="../media/image49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10" Type="http://schemas.openxmlformats.org/officeDocument/2006/relationships/image" Target="../media/image54.jpeg"/><Relationship Id="rId4" Type="http://schemas.openxmlformats.org/officeDocument/2006/relationships/image" Target="../media/image1.png"/><Relationship Id="rId9" Type="http://schemas.openxmlformats.org/officeDocument/2006/relationships/image" Target="../media/image53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jpeg"/><Relationship Id="rId3" Type="http://schemas.openxmlformats.org/officeDocument/2006/relationships/image" Target="../media/image55.png"/><Relationship Id="rId7" Type="http://schemas.openxmlformats.org/officeDocument/2006/relationships/image" Target="../media/image5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jpeg"/><Relationship Id="rId5" Type="http://schemas.openxmlformats.org/officeDocument/2006/relationships/image" Target="../media/image56.jpeg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6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jpeg"/><Relationship Id="rId5" Type="http://schemas.openxmlformats.org/officeDocument/2006/relationships/image" Target="../media/image60.jpe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jpeg"/><Relationship Id="rId3" Type="http://schemas.openxmlformats.org/officeDocument/2006/relationships/image" Target="../media/image1.png"/><Relationship Id="rId7" Type="http://schemas.openxmlformats.org/officeDocument/2006/relationships/image" Target="../media/image65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jpe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1.png"/><Relationship Id="rId4" Type="http://schemas.openxmlformats.org/officeDocument/2006/relationships/image" Target="../media/image4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77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12" Type="http://schemas.openxmlformats.org/officeDocument/2006/relationships/image" Target="../media/image7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11" Type="http://schemas.openxmlformats.org/officeDocument/2006/relationships/image" Target="../media/image75.png"/><Relationship Id="rId5" Type="http://schemas.openxmlformats.org/officeDocument/2006/relationships/image" Target="../media/image69.png"/><Relationship Id="rId10" Type="http://schemas.openxmlformats.org/officeDocument/2006/relationships/image" Target="../media/image74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fd577a1a8bd1a83f01ff41637a147eb7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1143000" y="761695"/>
            <a:ext cx="571500" cy="1920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901953" y="1524305"/>
            <a:ext cx="8243047" cy="7239305"/>
          </a:xfrm>
          <a:prstGeom prst="rect">
            <a:avLst/>
          </a:prstGeom>
          <a:solidFill>
            <a:srgbClr val="EEEA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2" descr="gen-dedup-b3a2f34c67f8d4cab6c236752fb6a364.png"/>
          <p:cNvPicPr>
            <a:picLocks noChangeAspect="1"/>
          </p:cNvPicPr>
          <p:nvPr/>
        </p:nvPicPr>
        <p:blipFill>
          <a:blip r:embed="rId4"/>
          <a:srcRect t="-43" b="-43"/>
          <a:stretch/>
        </p:blipFill>
        <p:spPr>
          <a:xfrm>
            <a:off x="11239805" y="8382305"/>
            <a:ext cx="5905195" cy="381305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1143000" y="914400"/>
            <a:ext cx="45720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kern="0" spc="243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LG BEST SHOP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7" name="Text 2"/>
          <p:cNvSpPr txBox="1"/>
          <p:nvPr/>
        </p:nvSpPr>
        <p:spPr>
          <a:xfrm>
            <a:off x="1143000" y="1200607"/>
            <a:ext cx="4572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고객 상담 가이드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9" name="Text 4"/>
          <p:cNvSpPr txBox="1"/>
          <p:nvPr/>
        </p:nvSpPr>
        <p:spPr>
          <a:xfrm>
            <a:off x="1143000" y="2857500"/>
            <a:ext cx="9906610" cy="9528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300" kern="0" spc="-126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우리 집 TV,</a:t>
            </a:r>
            <a:endParaRPr lang="en-US" sz="63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10" name="Text 5"/>
          <p:cNvSpPr txBox="1"/>
          <p:nvPr/>
        </p:nvSpPr>
        <p:spPr>
          <a:xfrm>
            <a:off x="1143000" y="3886200"/>
            <a:ext cx="11026750" cy="9528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300" b="1" kern="0" spc="-126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몇 인치로 어떤 방식으로</a:t>
            </a:r>
            <a:endParaRPr lang="en-US" sz="63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11" name="Text 6"/>
          <p:cNvSpPr txBox="1"/>
          <p:nvPr/>
        </p:nvSpPr>
        <p:spPr>
          <a:xfrm>
            <a:off x="1143000" y="4914900"/>
            <a:ext cx="9906610" cy="9528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300" b="1" kern="0" spc="-126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설치할까?</a:t>
            </a:r>
            <a:endParaRPr lang="en-US" sz="63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12" name="Text 7"/>
          <p:cNvSpPr txBox="1"/>
          <p:nvPr/>
        </p:nvSpPr>
        <p:spPr>
          <a:xfrm>
            <a:off x="1143000" y="6427318"/>
            <a:ext cx="9906610" cy="887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100" dirty="0">
                <a:solidFill>
                  <a:srgbClr val="3A3A38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TV 선택부터 설치와 주변기기까지,</a:t>
            </a:r>
            <a:endParaRPr lang="en-US" sz="21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  <a:p>
            <a:pPr marL="0" indent="0" algn="l">
              <a:lnSpc>
                <a:spcPts val="3300"/>
              </a:lnSpc>
              <a:buNone/>
            </a:pPr>
            <a:r>
              <a:rPr lang="en-US" sz="2100" dirty="0">
                <a:solidFill>
                  <a:srgbClr val="3A3A38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우리 집 거실에 맞춰 설계하는 TV 상담 가이드</a:t>
            </a:r>
            <a:endParaRPr lang="en-US" sz="21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13" name="Text 8"/>
          <p:cNvSpPr txBox="1"/>
          <p:nvPr/>
        </p:nvSpPr>
        <p:spPr>
          <a:xfrm>
            <a:off x="1143000" y="8762695"/>
            <a:ext cx="121926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kern="0" spc="99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TV 크기 </a:t>
            </a:r>
            <a:r>
              <a:rPr lang="en-US" sz="1650" kern="0" spc="99" dirty="0">
                <a:solidFill>
                  <a:srgbClr val="C8C1B2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→</a:t>
            </a:r>
            <a:r>
              <a:rPr lang="en-US" sz="1650" kern="0" spc="99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 시청거리 </a:t>
            </a:r>
            <a:r>
              <a:rPr lang="en-US" sz="1650" kern="0" spc="99" dirty="0">
                <a:solidFill>
                  <a:srgbClr val="C8C1B2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→</a:t>
            </a:r>
            <a:r>
              <a:rPr lang="en-US" sz="1650" kern="0" spc="99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 설치방식 </a:t>
            </a:r>
            <a:r>
              <a:rPr lang="en-US" sz="1650" kern="0" spc="99" dirty="0">
                <a:solidFill>
                  <a:srgbClr val="C8C1B2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→</a:t>
            </a:r>
            <a:r>
              <a:rPr lang="en-US" sz="1650" kern="0" spc="99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 반매립 </a:t>
            </a:r>
            <a:r>
              <a:rPr lang="en-US" sz="1650" kern="0" spc="99" dirty="0">
                <a:solidFill>
                  <a:srgbClr val="C8C1B2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→</a:t>
            </a:r>
            <a:r>
              <a:rPr lang="en-US" sz="1650" kern="0" spc="99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 셋톱박스 </a:t>
            </a:r>
            <a:r>
              <a:rPr lang="en-US" sz="1650" kern="0" spc="99" dirty="0">
                <a:solidFill>
                  <a:srgbClr val="C8C1B2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→</a:t>
            </a:r>
            <a:r>
              <a:rPr lang="en-US" sz="1650" kern="0" spc="99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 주변기기</a:t>
            </a:r>
            <a:endParaRPr lang="en-US" sz="16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14" name="Text 9"/>
          <p:cNvSpPr txBox="1"/>
          <p:nvPr/>
        </p:nvSpPr>
        <p:spPr>
          <a:xfrm>
            <a:off x="16002000" y="9334195"/>
            <a:ext cx="1334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50" kern="0" spc="126" dirty="0">
                <a:solidFill>
                  <a:srgbClr val="9E988C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2026 EDITION</a:t>
            </a:r>
            <a:endParaRPr lang="en-US" sz="10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3E7009AC-C2F4-4E3F-B2E3-EAABDF0EBE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1595882"/>
            <a:ext cx="7799461" cy="696989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fd577a1a8bd1a83f01ff41637a147eb7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1143000" y="761695"/>
            <a:ext cx="571500" cy="1920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287000" y="3143708"/>
            <a:ext cx="7048195" cy="6578516"/>
          </a:xfrm>
          <a:prstGeom prst="roundRect">
            <a:avLst>
              <a:gd name="adj" fmla="val 1080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43000" y="4095598"/>
            <a:ext cx="8382305" cy="3047695"/>
          </a:xfrm>
          <a:prstGeom prst="roundRect">
            <a:avLst>
              <a:gd name="adj" fmla="val 1890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pic>
        <p:nvPicPr>
          <p:cNvPr id="6" name="Image 1" descr="gen-dedup-2164ae3e178f1ecc3a88efc042980c5e.png"/>
          <p:cNvPicPr>
            <a:picLocks noChangeAspect="1"/>
          </p:cNvPicPr>
          <p:nvPr/>
        </p:nvPicPr>
        <p:blipFill>
          <a:blip r:embed="rId4"/>
          <a:srcRect t="-4" b="-4"/>
          <a:stretch/>
        </p:blipFill>
        <p:spPr>
          <a:xfrm>
            <a:off x="1239012" y="7957565"/>
            <a:ext cx="5238598" cy="1764659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0669246" y="3649184"/>
            <a:ext cx="1333195" cy="780898"/>
          </a:xfrm>
          <a:prstGeom prst="roundRect">
            <a:avLst>
              <a:gd name="adj" fmla="val 3630"/>
            </a:avLst>
          </a:prstGeom>
          <a:solidFill>
            <a:srgbClr val="1A1A1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0715396" y="4686300"/>
            <a:ext cx="1619402" cy="914400"/>
          </a:xfrm>
          <a:prstGeom prst="roundRect">
            <a:avLst>
              <a:gd name="adj" fmla="val 3100"/>
            </a:avLst>
          </a:prstGeom>
          <a:solidFill>
            <a:srgbClr val="1A1A1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0763403" y="6086703"/>
            <a:ext cx="1904695" cy="1086307"/>
          </a:xfrm>
          <a:prstGeom prst="roundRect">
            <a:avLst>
              <a:gd name="adj" fmla="val 2609"/>
            </a:avLst>
          </a:prstGeom>
          <a:solidFill>
            <a:srgbClr val="1A1A1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2" descr="gen-dedup-28903ca0362ab3f832ab962a3556595d.png"/>
          <p:cNvPicPr>
            <a:picLocks noChangeAspect="1"/>
          </p:cNvPicPr>
          <p:nvPr/>
        </p:nvPicPr>
        <p:blipFill>
          <a:blip r:embed="rId5"/>
          <a:srcRect t="-402" b="-402"/>
          <a:stretch/>
        </p:blipFill>
        <p:spPr>
          <a:xfrm>
            <a:off x="1524305" y="6476695"/>
            <a:ext cx="7619695" cy="19202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1904695" y="5296205"/>
            <a:ext cx="952805" cy="533095"/>
          </a:xfrm>
          <a:prstGeom prst="rect">
            <a:avLst/>
          </a:prstGeom>
          <a:solidFill>
            <a:srgbClr val="3A3A3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3238805" y="5143500"/>
            <a:ext cx="1218895" cy="685800"/>
          </a:xfrm>
          <a:prstGeom prst="rect">
            <a:avLst/>
          </a:prstGeom>
          <a:solidFill>
            <a:srgbClr val="2A2A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4858207" y="4972507"/>
            <a:ext cx="1524305" cy="857707"/>
          </a:xfrm>
          <a:prstGeom prst="rect">
            <a:avLst/>
          </a:prstGeom>
          <a:solidFill>
            <a:srgbClr val="1A1A1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1143000" y="914400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kern="0" spc="243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STEP 1 </a:t>
            </a:r>
            <a:r>
              <a:rPr lang="en-US" sz="1350" b="1" kern="0" spc="243" dirty="0">
                <a:solidFill>
                  <a:srgbClr val="B5AFA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/ TV 크기부터 이해하기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17" name="Text 12"/>
          <p:cNvSpPr txBox="1"/>
          <p:nvPr/>
        </p:nvSpPr>
        <p:spPr>
          <a:xfrm>
            <a:off x="1143000" y="1619402"/>
            <a:ext cx="12192610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kern="0" spc="-96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TV는 몇 인치가 아니라</a:t>
            </a:r>
            <a:endParaRPr lang="en-US" sz="48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18" name="Text 13"/>
          <p:cNvSpPr txBox="1"/>
          <p:nvPr/>
        </p:nvSpPr>
        <p:spPr>
          <a:xfrm>
            <a:off x="1143000" y="2381098"/>
            <a:ext cx="12192610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'실제 크기'를 함께 봐야 합니다</a:t>
            </a:r>
            <a:endParaRPr lang="en-US" sz="48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19" name="Text 14"/>
          <p:cNvSpPr txBox="1"/>
          <p:nvPr/>
        </p:nvSpPr>
        <p:spPr>
          <a:xfrm>
            <a:off x="10429189" y="2682662"/>
            <a:ext cx="7049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kern="0" spc="189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대표적인 화면 크기</a:t>
            </a:r>
            <a:endParaRPr lang="en-US" sz="24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0" name="Text 15"/>
          <p:cNvSpPr txBox="1"/>
          <p:nvPr/>
        </p:nvSpPr>
        <p:spPr>
          <a:xfrm>
            <a:off x="12573000" y="3635856"/>
            <a:ext cx="4572000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5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55</a:t>
            </a:r>
            <a:r>
              <a:rPr lang="en-US" sz="1650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형</a:t>
            </a:r>
            <a:endParaRPr lang="en-US" sz="25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1" name="Text 16"/>
          <p:cNvSpPr txBox="1"/>
          <p:nvPr/>
        </p:nvSpPr>
        <p:spPr>
          <a:xfrm>
            <a:off x="12573000" y="4159808"/>
            <a:ext cx="4572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약 123 × 71 cm</a:t>
            </a:r>
            <a:endParaRPr lang="en-US" sz="16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2" name="Text 17"/>
          <p:cNvSpPr txBox="1"/>
          <p:nvPr/>
        </p:nvSpPr>
        <p:spPr>
          <a:xfrm>
            <a:off x="13049403" y="4718762"/>
            <a:ext cx="4572000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5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65</a:t>
            </a:r>
            <a:r>
              <a:rPr lang="en-US" sz="1650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형</a:t>
            </a:r>
            <a:endParaRPr lang="en-US" sz="25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3" name="Text 18"/>
          <p:cNvSpPr txBox="1"/>
          <p:nvPr/>
        </p:nvSpPr>
        <p:spPr>
          <a:xfrm>
            <a:off x="13049403" y="5279543"/>
            <a:ext cx="4572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약 145 × 83 cm</a:t>
            </a:r>
            <a:endParaRPr lang="en-US" sz="16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13286689" y="6130580"/>
            <a:ext cx="4191610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5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75 ~ 77</a:t>
            </a:r>
            <a:r>
              <a:rPr lang="en-US" sz="1650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형</a:t>
            </a:r>
            <a:endParaRPr lang="en-US" sz="25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5" name="Text 20"/>
          <p:cNvSpPr txBox="1"/>
          <p:nvPr/>
        </p:nvSpPr>
        <p:spPr>
          <a:xfrm>
            <a:off x="13286689" y="6653617"/>
            <a:ext cx="41916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약 167 ~ 172 × 96 ~ 99 cm</a:t>
            </a:r>
            <a:endParaRPr lang="en-US" sz="16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6" name="Text 21"/>
          <p:cNvSpPr txBox="1"/>
          <p:nvPr/>
        </p:nvSpPr>
        <p:spPr>
          <a:xfrm>
            <a:off x="13545060" y="7957566"/>
            <a:ext cx="4000500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5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83 ~ 86</a:t>
            </a:r>
            <a:r>
              <a:rPr lang="en-US" sz="1650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형</a:t>
            </a:r>
            <a:endParaRPr lang="en-US" sz="25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7" name="Text 22"/>
          <p:cNvSpPr txBox="1"/>
          <p:nvPr/>
        </p:nvSpPr>
        <p:spPr>
          <a:xfrm>
            <a:off x="13545060" y="8481517"/>
            <a:ext cx="40005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약 185 ~ 191 × 106 ~ 110 cm</a:t>
            </a:r>
            <a:endParaRPr lang="en-US" sz="16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8" name="Text 23"/>
          <p:cNvSpPr txBox="1"/>
          <p:nvPr/>
        </p:nvSpPr>
        <p:spPr>
          <a:xfrm>
            <a:off x="10477195" y="9283742"/>
            <a:ext cx="6477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9E988C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※ 실제 크기는 모델별로 차이가 있을 수 있습니다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9" name="Text 24"/>
          <p:cNvSpPr txBox="1"/>
          <p:nvPr/>
        </p:nvSpPr>
        <p:spPr>
          <a:xfrm>
            <a:off x="1714500" y="5962802"/>
            <a:ext cx="1334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55형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0" name="Text 25"/>
          <p:cNvSpPr txBox="1"/>
          <p:nvPr/>
        </p:nvSpPr>
        <p:spPr>
          <a:xfrm>
            <a:off x="3047695" y="5962802"/>
            <a:ext cx="161940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65형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1" name="Text 26"/>
          <p:cNvSpPr txBox="1"/>
          <p:nvPr/>
        </p:nvSpPr>
        <p:spPr>
          <a:xfrm>
            <a:off x="4667098" y="5962802"/>
            <a:ext cx="1905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75 ~ 77형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2" name="Text 27"/>
          <p:cNvSpPr txBox="1"/>
          <p:nvPr/>
        </p:nvSpPr>
        <p:spPr>
          <a:xfrm>
            <a:off x="6667805" y="5962802"/>
            <a:ext cx="2095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83 ~ 86 / 97+형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3" name="Text 28"/>
          <p:cNvSpPr txBox="1"/>
          <p:nvPr/>
        </p:nvSpPr>
        <p:spPr>
          <a:xfrm>
            <a:off x="1524305" y="6705295"/>
            <a:ext cx="7620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9E988C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벽면에 놓인 크기 비교 — 같은 줄에 가로폭 차이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4" name="Text 29"/>
          <p:cNvSpPr txBox="1"/>
          <p:nvPr/>
        </p:nvSpPr>
        <p:spPr>
          <a:xfrm>
            <a:off x="1524305" y="8134502"/>
            <a:ext cx="11239805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kern="0" spc="270" dirty="0">
                <a:solidFill>
                  <a:srgbClr val="B5AFA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CORE MESSAGE</a:t>
            </a:r>
            <a:endParaRPr lang="en-US" sz="15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5" name="Text 30"/>
          <p:cNvSpPr txBox="1"/>
          <p:nvPr/>
        </p:nvSpPr>
        <p:spPr>
          <a:xfrm>
            <a:off x="1524305" y="8563356"/>
            <a:ext cx="1123980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dirty="0"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'65</a:t>
            </a:r>
            <a:r>
              <a:rPr lang="ko-KR" altLang="en-US" sz="2250" dirty="0"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인치</a:t>
            </a:r>
            <a:r>
              <a:rPr lang="en-US" sz="2250" dirty="0" err="1"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니까</a:t>
            </a:r>
            <a:r>
              <a:rPr lang="en-US" sz="2250" dirty="0"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 이 정도겠지'가 아니라,</a:t>
            </a:r>
            <a:endParaRPr lang="en-US" sz="22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6" name="Text 31"/>
          <p:cNvSpPr txBox="1"/>
          <p:nvPr/>
        </p:nvSpPr>
        <p:spPr>
          <a:xfrm>
            <a:off x="1524305" y="9077249"/>
            <a:ext cx="1123980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dirty="0"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실제 </a:t>
            </a:r>
            <a:r>
              <a:rPr lang="en-US" sz="2250" b="1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가로폭과 높이</a:t>
            </a:r>
            <a:r>
              <a:rPr lang="en-US" sz="2250" dirty="0"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를 확인해야 합니다.</a:t>
            </a:r>
            <a:endParaRPr lang="en-US" sz="22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1" name="Shape 8">
            <a:extLst>
              <a:ext uri="{FF2B5EF4-FFF2-40B4-BE49-F238E27FC236}">
                <a16:creationId xmlns:a16="http://schemas.microsoft.com/office/drawing/2014/main" id="{A2A0F99B-04AA-4FC3-B0D7-C705D44C6795}"/>
              </a:ext>
            </a:extLst>
          </p:cNvPr>
          <p:cNvSpPr/>
          <p:nvPr/>
        </p:nvSpPr>
        <p:spPr>
          <a:xfrm>
            <a:off x="6803190" y="4763109"/>
            <a:ext cx="1960420" cy="1073883"/>
          </a:xfrm>
          <a:prstGeom prst="rect">
            <a:avLst/>
          </a:prstGeom>
          <a:solidFill>
            <a:srgbClr val="1A1A1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5">
            <a:extLst>
              <a:ext uri="{FF2B5EF4-FFF2-40B4-BE49-F238E27FC236}">
                <a16:creationId xmlns:a16="http://schemas.microsoft.com/office/drawing/2014/main" id="{69C78605-41E9-4928-8A82-3F3EFF011967}"/>
              </a:ext>
            </a:extLst>
          </p:cNvPr>
          <p:cNvSpPr/>
          <p:nvPr/>
        </p:nvSpPr>
        <p:spPr>
          <a:xfrm>
            <a:off x="10773030" y="7565423"/>
            <a:ext cx="2485822" cy="1420977"/>
          </a:xfrm>
          <a:prstGeom prst="roundRect">
            <a:avLst>
              <a:gd name="adj" fmla="val 2609"/>
            </a:avLst>
          </a:prstGeom>
          <a:solidFill>
            <a:srgbClr val="1A1A1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fd577a1a8bd1a83f01ff41637a147eb7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1143000" y="761695"/>
            <a:ext cx="571500" cy="1920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4743907"/>
            <a:ext cx="3810305" cy="2667305"/>
          </a:xfrm>
          <a:prstGeom prst="roundRect">
            <a:avLst>
              <a:gd name="adj" fmla="val 2160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143500" y="4743907"/>
            <a:ext cx="3810305" cy="2667305"/>
          </a:xfrm>
          <a:prstGeom prst="roundRect">
            <a:avLst>
              <a:gd name="adj" fmla="val 2160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144000" y="4743907"/>
            <a:ext cx="3810305" cy="2667305"/>
          </a:xfrm>
          <a:prstGeom prst="roundRect">
            <a:avLst>
              <a:gd name="adj" fmla="val 2160"/>
            </a:avLst>
          </a:prstGeom>
          <a:solidFill>
            <a:srgbClr val="1A1A1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3144500" y="4743907"/>
            <a:ext cx="3810305" cy="2667305"/>
          </a:xfrm>
          <a:prstGeom prst="roundRect">
            <a:avLst>
              <a:gd name="adj" fmla="val 2160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43000" y="8477402"/>
            <a:ext cx="10287000" cy="1143000"/>
          </a:xfrm>
          <a:prstGeom prst="roundRect">
            <a:avLst>
              <a:gd name="adj" fmla="val 5040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811305" y="8477402"/>
            <a:ext cx="5333695" cy="1143000"/>
          </a:xfrm>
          <a:prstGeom prst="roundRect">
            <a:avLst>
              <a:gd name="adj" fmla="val 5040"/>
            </a:avLst>
          </a:prstGeom>
          <a:solidFill>
            <a:srgbClr val="1A1A1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1" descr="gen-dedup-cba8d36d9ad3df55b0385c3efbcd82ea.png"/>
          <p:cNvPicPr>
            <a:picLocks noChangeAspect="1"/>
          </p:cNvPicPr>
          <p:nvPr/>
        </p:nvPicPr>
        <p:blipFill>
          <a:blip r:embed="rId4"/>
          <a:srcRect t="-396" b="-396"/>
          <a:stretch/>
        </p:blipFill>
        <p:spPr>
          <a:xfrm>
            <a:off x="1143000" y="4743907"/>
            <a:ext cx="3810305" cy="38405"/>
          </a:xfrm>
          <a:prstGeom prst="rect">
            <a:avLst/>
          </a:prstGeom>
        </p:spPr>
      </p:pic>
      <p:pic>
        <p:nvPicPr>
          <p:cNvPr id="10" name="Image 2" descr="gen-dedup-cba8d36d9ad3df55b0385c3efbcd82ea.png"/>
          <p:cNvPicPr>
            <a:picLocks noChangeAspect="1"/>
          </p:cNvPicPr>
          <p:nvPr/>
        </p:nvPicPr>
        <p:blipFill>
          <a:blip r:embed="rId4"/>
          <a:srcRect t="-396" b="-396"/>
          <a:stretch/>
        </p:blipFill>
        <p:spPr>
          <a:xfrm>
            <a:off x="5143500" y="4743907"/>
            <a:ext cx="3810305" cy="38405"/>
          </a:xfrm>
          <a:prstGeom prst="rect">
            <a:avLst/>
          </a:prstGeom>
        </p:spPr>
      </p:pic>
      <p:pic>
        <p:nvPicPr>
          <p:cNvPr id="11" name="Image 3" descr="gen-dedup-cba8d36d9ad3df55b0385c3efbcd82ea.png"/>
          <p:cNvPicPr>
            <a:picLocks noChangeAspect="1"/>
          </p:cNvPicPr>
          <p:nvPr/>
        </p:nvPicPr>
        <p:blipFill>
          <a:blip r:embed="rId4"/>
          <a:srcRect t="-396" b="-396"/>
          <a:stretch/>
        </p:blipFill>
        <p:spPr>
          <a:xfrm>
            <a:off x="13144500" y="4743907"/>
            <a:ext cx="3810305" cy="38405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143000" y="914400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kern="0" spc="243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STEP 2 </a:t>
            </a:r>
            <a:r>
              <a:rPr lang="en-US" sz="1350" b="1" kern="0" spc="243" dirty="0">
                <a:solidFill>
                  <a:srgbClr val="B5AFA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/ 우리 집 구조와 시청거리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14" name="Text 8"/>
          <p:cNvSpPr txBox="1"/>
          <p:nvPr/>
        </p:nvSpPr>
        <p:spPr>
          <a:xfrm>
            <a:off x="1143000" y="1619402"/>
            <a:ext cx="12573000" cy="7434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kern="0" spc="-93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평형보다 중요한 것은</a:t>
            </a:r>
            <a:endParaRPr lang="en-US" sz="48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15" name="Text 9"/>
          <p:cNvSpPr txBox="1"/>
          <p:nvPr/>
        </p:nvSpPr>
        <p:spPr>
          <a:xfrm>
            <a:off x="1143000" y="2361895"/>
            <a:ext cx="12573000" cy="7434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93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'TV와 소파 사이 거리'입니다</a:t>
            </a:r>
            <a:endParaRPr lang="en-US" sz="48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16" name="Text 10"/>
          <p:cNvSpPr txBox="1"/>
          <p:nvPr/>
        </p:nvSpPr>
        <p:spPr>
          <a:xfrm>
            <a:off x="1143000" y="3619195"/>
            <a:ext cx="1219261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dirty="0">
                <a:solidFill>
                  <a:srgbClr val="3A3A38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아파트 </a:t>
            </a:r>
            <a:r>
              <a:rPr lang="en-US" sz="21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평형</a:t>
            </a:r>
            <a:r>
              <a:rPr lang="en-US" sz="2100" dirty="0">
                <a:solidFill>
                  <a:srgbClr val="3A3A38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은 상담을 시작하기 위한 참고자료이고, 실제 TV 크기를 결정할 때는 </a:t>
            </a:r>
            <a:r>
              <a:rPr lang="en-US" sz="2100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시청거리</a:t>
            </a:r>
            <a:r>
              <a:rPr lang="en-US" sz="2100" dirty="0">
                <a:solidFill>
                  <a:srgbClr val="3A3A38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를 우선적으로 확인합니다.</a:t>
            </a:r>
            <a:endParaRPr lang="en-US" sz="21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17" name="Text 11"/>
          <p:cNvSpPr txBox="1"/>
          <p:nvPr/>
        </p:nvSpPr>
        <p:spPr>
          <a:xfrm>
            <a:off x="1447495" y="5143500"/>
            <a:ext cx="32388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21평대</a:t>
            </a:r>
            <a:endParaRPr lang="en-US" sz="18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18" name="Text 12"/>
          <p:cNvSpPr txBox="1"/>
          <p:nvPr/>
        </p:nvSpPr>
        <p:spPr>
          <a:xfrm>
            <a:off x="1447495" y="5648249"/>
            <a:ext cx="4091940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kern="0" spc="-96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2.0 ~ 2.5</a:t>
            </a:r>
            <a:r>
              <a:rPr lang="en-US" sz="2400" kern="0" spc="-96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m</a:t>
            </a:r>
            <a:endParaRPr lang="en-US" sz="48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19" name="Text 13"/>
          <p:cNvSpPr txBox="1"/>
          <p:nvPr/>
        </p:nvSpPr>
        <p:spPr>
          <a:xfrm>
            <a:off x="1447495" y="6676949"/>
            <a:ext cx="3238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9E988C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시청거리 참고 범위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0" name="Text 14"/>
          <p:cNvSpPr txBox="1"/>
          <p:nvPr/>
        </p:nvSpPr>
        <p:spPr>
          <a:xfrm>
            <a:off x="5447995" y="5143500"/>
            <a:ext cx="32388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24</a:t>
            </a:r>
            <a:r>
              <a:rPr lang="en-US" sz="1800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평대</a:t>
            </a:r>
            <a:endParaRPr lang="en-US" sz="18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1" name="Text 15"/>
          <p:cNvSpPr txBox="1"/>
          <p:nvPr/>
        </p:nvSpPr>
        <p:spPr>
          <a:xfrm>
            <a:off x="5447995" y="5648249"/>
            <a:ext cx="4091940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kern="0" spc="-96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2.2 ~ 2.8</a:t>
            </a:r>
            <a:r>
              <a:rPr lang="en-US" sz="2400" kern="0" spc="-96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m</a:t>
            </a:r>
            <a:endParaRPr lang="en-US" sz="48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2" name="Text 16"/>
          <p:cNvSpPr txBox="1"/>
          <p:nvPr/>
        </p:nvSpPr>
        <p:spPr>
          <a:xfrm>
            <a:off x="5447995" y="6676949"/>
            <a:ext cx="3238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9E988C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시청거리 참고 범위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3" name="Text 17"/>
          <p:cNvSpPr txBox="1"/>
          <p:nvPr/>
        </p:nvSpPr>
        <p:spPr>
          <a:xfrm>
            <a:off x="9448495" y="5143500"/>
            <a:ext cx="32388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B5AFA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34평대</a:t>
            </a:r>
            <a:endParaRPr lang="en-US" sz="18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4" name="Text 18"/>
          <p:cNvSpPr txBox="1"/>
          <p:nvPr/>
        </p:nvSpPr>
        <p:spPr>
          <a:xfrm>
            <a:off x="9448495" y="5648249"/>
            <a:ext cx="4336085" cy="8577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100" kern="0" spc="-102" dirty="0">
                <a:solidFill>
                  <a:srgbClr val="FFFFFF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2.5 ~ 3.1</a:t>
            </a:r>
            <a:r>
              <a:rPr lang="en-US" sz="2400" kern="0" spc="-102" dirty="0">
                <a:solidFill>
                  <a:srgbClr val="9E988C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m</a:t>
            </a:r>
            <a:endParaRPr lang="en-US" sz="51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5" name="Text 19"/>
          <p:cNvSpPr txBox="1"/>
          <p:nvPr/>
        </p:nvSpPr>
        <p:spPr>
          <a:xfrm>
            <a:off x="9448495" y="6734556"/>
            <a:ext cx="3238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9E988C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시청거리 참고 범위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6" name="Text 20"/>
          <p:cNvSpPr txBox="1"/>
          <p:nvPr/>
        </p:nvSpPr>
        <p:spPr>
          <a:xfrm>
            <a:off x="13448995" y="5143500"/>
            <a:ext cx="32388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40</a:t>
            </a:r>
            <a:r>
              <a:rPr lang="en-US" sz="1800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평대 이상</a:t>
            </a:r>
            <a:endParaRPr lang="en-US" sz="18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7" name="Text 21"/>
          <p:cNvSpPr txBox="1"/>
          <p:nvPr/>
        </p:nvSpPr>
        <p:spPr>
          <a:xfrm>
            <a:off x="13448995" y="5648249"/>
            <a:ext cx="4091940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kern="0" spc="-96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2.8 ~ 3.4</a:t>
            </a:r>
            <a:r>
              <a:rPr lang="en-US" sz="2400" kern="0" spc="-96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m</a:t>
            </a:r>
            <a:endParaRPr lang="en-US" sz="48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8" name="Text 22"/>
          <p:cNvSpPr txBox="1"/>
          <p:nvPr/>
        </p:nvSpPr>
        <p:spPr>
          <a:xfrm>
            <a:off x="13448995" y="6676949"/>
            <a:ext cx="3238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9E988C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시청거리 참고 범위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9" name="Text 23"/>
          <p:cNvSpPr txBox="1"/>
          <p:nvPr/>
        </p:nvSpPr>
        <p:spPr>
          <a:xfrm>
            <a:off x="1143000" y="7715707"/>
            <a:ext cx="158118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※ 실제 평면 구조에 따라 차이가 크므로 </a:t>
            </a:r>
            <a:r>
              <a:rPr lang="en-US" sz="165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'대표적인 상담용 범위'</a:t>
            </a:r>
            <a:r>
              <a:rPr lang="en-US" sz="1650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로 표시했습니다.</a:t>
            </a:r>
            <a:endParaRPr lang="en-US" sz="16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0" name="Text 24"/>
          <p:cNvSpPr txBox="1"/>
          <p:nvPr/>
        </p:nvSpPr>
        <p:spPr>
          <a:xfrm>
            <a:off x="1524305" y="8667598"/>
            <a:ext cx="933511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kern="0" spc="243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CONSULT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1" name="Text 25"/>
          <p:cNvSpPr txBox="1"/>
          <p:nvPr/>
        </p:nvSpPr>
        <p:spPr>
          <a:xfrm>
            <a:off x="1524305" y="8973007"/>
            <a:ext cx="933511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소파에서 TV까지 몇 m 정도 나오세요?</a:t>
            </a:r>
            <a:endParaRPr lang="en-US" sz="21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2" name="Text 26"/>
          <p:cNvSpPr txBox="1"/>
          <p:nvPr/>
        </p:nvSpPr>
        <p:spPr>
          <a:xfrm>
            <a:off x="12191695" y="8591702"/>
            <a:ext cx="45720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kern="0" spc="216" dirty="0">
                <a:solidFill>
                  <a:srgbClr val="B5AFA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POINT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3" name="Text 27"/>
          <p:cNvSpPr txBox="1"/>
          <p:nvPr/>
        </p:nvSpPr>
        <p:spPr>
          <a:xfrm>
            <a:off x="12191695" y="8876995"/>
            <a:ext cx="45720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평형보다 </a:t>
            </a:r>
            <a:r>
              <a:rPr lang="en-US" sz="1800" b="1" dirty="0">
                <a:solidFill>
                  <a:srgbClr val="FFFFFF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실제 거리</a:t>
            </a:r>
            <a:r>
              <a:rPr lang="en-US" sz="1800" dirty="0">
                <a:solidFill>
                  <a:srgbClr val="FFFFFF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가 핵심입니다</a:t>
            </a:r>
            <a:endParaRPr lang="en-US" sz="18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fd577a1a8bd1a83f01ff41637a147eb7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1143000" y="761695"/>
            <a:ext cx="571500" cy="1920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3448202"/>
            <a:ext cx="5715000" cy="2286000"/>
          </a:xfrm>
          <a:prstGeom prst="roundRect">
            <a:avLst>
              <a:gd name="adj" fmla="val 2520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048195" y="3448202"/>
            <a:ext cx="5715000" cy="2286000"/>
          </a:xfrm>
          <a:prstGeom prst="roundRect">
            <a:avLst>
              <a:gd name="adj" fmla="val 2520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143000" y="6697066"/>
            <a:ext cx="2667305" cy="914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810305" y="6697066"/>
            <a:ext cx="4953305" cy="914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762695" y="6697066"/>
            <a:ext cx="4953305" cy="914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716000" y="6697066"/>
            <a:ext cx="3619195" cy="914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</p:sp>
      <p:pic>
        <p:nvPicPr>
          <p:cNvPr id="9" name="Image 1" descr="gen-dedup-6c5f1da33139c753352860de3f5f9349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143000" y="7353605"/>
            <a:ext cx="16192195" cy="9144"/>
          </a:xfrm>
          <a:prstGeom prst="rect">
            <a:avLst/>
          </a:prstGeom>
        </p:spPr>
      </p:pic>
      <p:pic>
        <p:nvPicPr>
          <p:cNvPr id="10" name="Image 2" descr="gen-dedup-6c5f1da33139c753352860de3f5f9349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143000" y="8058607"/>
            <a:ext cx="16192195" cy="9144"/>
          </a:xfrm>
          <a:prstGeom prst="rect">
            <a:avLst/>
          </a:prstGeom>
        </p:spPr>
      </p:pic>
      <p:pic>
        <p:nvPicPr>
          <p:cNvPr id="11" name="Image 3" descr="gen-dedup-6c5f1da33139c753352860de3f5f9349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143000" y="8762695"/>
            <a:ext cx="16192195" cy="9144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1143000" y="9506102"/>
            <a:ext cx="14097305" cy="571500"/>
          </a:xfrm>
          <a:prstGeom prst="roundRect">
            <a:avLst>
              <a:gd name="adj" fmla="val 10080"/>
            </a:avLst>
          </a:prstGeom>
          <a:solidFill>
            <a:srgbClr val="1A1A1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" name="Image 4" descr="gen-dedup-085f557f1e7163dfba2e0a21079a5e48.png"/>
          <p:cNvPicPr>
            <a:picLocks noChangeAspect="1"/>
          </p:cNvPicPr>
          <p:nvPr/>
        </p:nvPicPr>
        <p:blipFill>
          <a:blip r:embed="rId5"/>
          <a:srcRect l="-400" r="-400"/>
          <a:stretch/>
        </p:blipFill>
        <p:spPr>
          <a:xfrm>
            <a:off x="1143000" y="9506102"/>
            <a:ext cx="57607" cy="5715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143000" y="914400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kern="0" spc="243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STEP 2-1 </a:t>
            </a:r>
            <a:r>
              <a:rPr lang="en-US" sz="1350" b="1" kern="0" spc="243" dirty="0">
                <a:solidFill>
                  <a:srgbClr val="B5AFA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/ 구축 vs 신축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8" name="Text 21"/>
          <p:cNvSpPr txBox="1"/>
          <p:nvPr/>
        </p:nvSpPr>
        <p:spPr>
          <a:xfrm>
            <a:off x="1143000" y="1580998"/>
            <a:ext cx="14097305" cy="648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kern="0" spc="-81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같은 평형이라도</a:t>
            </a:r>
            <a:endParaRPr lang="en-US" sz="48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9" name="Text 22"/>
          <p:cNvSpPr txBox="1"/>
          <p:nvPr/>
        </p:nvSpPr>
        <p:spPr>
          <a:xfrm>
            <a:off x="1142999" y="2276425"/>
            <a:ext cx="14097305" cy="648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81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구축과 신축은 거실 구조가 다를 수 있습니다</a:t>
            </a:r>
            <a:endParaRPr lang="en-US" sz="48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0" name="Text 23"/>
          <p:cNvSpPr txBox="1"/>
          <p:nvPr/>
        </p:nvSpPr>
        <p:spPr>
          <a:xfrm>
            <a:off x="1429207" y="3638398"/>
            <a:ext cx="4572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구축 아파트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1" name="Text 24"/>
          <p:cNvSpPr txBox="1"/>
          <p:nvPr/>
        </p:nvSpPr>
        <p:spPr>
          <a:xfrm>
            <a:off x="7334402" y="3638398"/>
            <a:ext cx="4572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신축 아파트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2" name="Text 25"/>
          <p:cNvSpPr txBox="1"/>
          <p:nvPr/>
        </p:nvSpPr>
        <p:spPr>
          <a:xfrm>
            <a:off x="13144500" y="3448202"/>
            <a:ext cx="419161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WHY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3" name="Text 26"/>
          <p:cNvSpPr txBox="1"/>
          <p:nvPr/>
        </p:nvSpPr>
        <p:spPr>
          <a:xfrm>
            <a:off x="13144500" y="3791102"/>
            <a:ext cx="4191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도식이 다르듯,</a:t>
            </a:r>
            <a:endParaRPr lang="en-US" sz="16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4" name="Text 27"/>
          <p:cNvSpPr txBox="1"/>
          <p:nvPr/>
        </p:nvSpPr>
        <p:spPr>
          <a:xfrm>
            <a:off x="13144500" y="4114800"/>
            <a:ext cx="4191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시청거리도 달라집니다.</a:t>
            </a:r>
            <a:endParaRPr lang="en-US" sz="16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5" name="Text 28"/>
          <p:cNvSpPr txBox="1"/>
          <p:nvPr/>
        </p:nvSpPr>
        <p:spPr>
          <a:xfrm>
            <a:off x="13144500" y="4591202"/>
            <a:ext cx="44705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신축은 거실 폭·깊이가 조금 더 넓은 경우가 많습니다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6" name="Text 29"/>
          <p:cNvSpPr txBox="1"/>
          <p:nvPr/>
        </p:nvSpPr>
        <p:spPr>
          <a:xfrm>
            <a:off x="1143000" y="6381598"/>
            <a:ext cx="2667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kern="0" spc="189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평형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7" name="Text 30"/>
          <p:cNvSpPr txBox="1"/>
          <p:nvPr/>
        </p:nvSpPr>
        <p:spPr>
          <a:xfrm>
            <a:off x="3810305" y="6381598"/>
            <a:ext cx="4953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kern="0" spc="189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구축 시청거리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8" name="Text 31"/>
          <p:cNvSpPr txBox="1"/>
          <p:nvPr/>
        </p:nvSpPr>
        <p:spPr>
          <a:xfrm>
            <a:off x="8762695" y="6381598"/>
            <a:ext cx="4953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kern="0" spc="189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신축 시청거리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9" name="Text 32"/>
          <p:cNvSpPr txBox="1"/>
          <p:nvPr/>
        </p:nvSpPr>
        <p:spPr>
          <a:xfrm>
            <a:off x="13716000" y="6381598"/>
            <a:ext cx="3620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350" b="1" kern="0" spc="189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차이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0" name="Text 33"/>
          <p:cNvSpPr txBox="1"/>
          <p:nvPr/>
        </p:nvSpPr>
        <p:spPr>
          <a:xfrm>
            <a:off x="1143000" y="6819595"/>
            <a:ext cx="26673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21평대</a:t>
            </a:r>
            <a:endParaRPr lang="en-US" sz="19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1" name="Text 34"/>
          <p:cNvSpPr txBox="1"/>
          <p:nvPr/>
        </p:nvSpPr>
        <p:spPr>
          <a:xfrm>
            <a:off x="3810305" y="6819595"/>
            <a:ext cx="49533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dirty="0">
                <a:solidFill>
                  <a:srgbClr val="3A3A38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약 2.0 ~ 2.3 m</a:t>
            </a:r>
            <a:endParaRPr lang="en-US" sz="19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2" name="Text 35"/>
          <p:cNvSpPr txBox="1"/>
          <p:nvPr/>
        </p:nvSpPr>
        <p:spPr>
          <a:xfrm>
            <a:off x="8762695" y="6819595"/>
            <a:ext cx="49533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약 2.2 ~ 2.5 m</a:t>
            </a:r>
            <a:endParaRPr lang="en-US" sz="19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3" name="Text 36"/>
          <p:cNvSpPr txBox="1"/>
          <p:nvPr/>
        </p:nvSpPr>
        <p:spPr>
          <a:xfrm>
            <a:off x="13716000" y="6819595"/>
            <a:ext cx="3620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9E988C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+ 약 0.2 m</a:t>
            </a:r>
            <a:endParaRPr lang="en-US" sz="15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4" name="Text 37"/>
          <p:cNvSpPr txBox="1"/>
          <p:nvPr/>
        </p:nvSpPr>
        <p:spPr>
          <a:xfrm>
            <a:off x="1143000" y="7524598"/>
            <a:ext cx="26673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24평대</a:t>
            </a:r>
            <a:endParaRPr lang="en-US" sz="19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5" name="Text 38"/>
          <p:cNvSpPr txBox="1"/>
          <p:nvPr/>
        </p:nvSpPr>
        <p:spPr>
          <a:xfrm>
            <a:off x="3810305" y="7524598"/>
            <a:ext cx="49533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dirty="0">
                <a:solidFill>
                  <a:srgbClr val="3A3A38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약 2.2 ~ 2.5 m</a:t>
            </a:r>
            <a:endParaRPr lang="en-US" sz="19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6" name="Text 39"/>
          <p:cNvSpPr txBox="1"/>
          <p:nvPr/>
        </p:nvSpPr>
        <p:spPr>
          <a:xfrm>
            <a:off x="8762695" y="7524598"/>
            <a:ext cx="49533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약 2.4 ~ 2.8 m</a:t>
            </a:r>
            <a:endParaRPr lang="en-US" sz="19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7" name="Text 40"/>
          <p:cNvSpPr txBox="1"/>
          <p:nvPr/>
        </p:nvSpPr>
        <p:spPr>
          <a:xfrm>
            <a:off x="13716000" y="7524598"/>
            <a:ext cx="3620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9E988C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+ 약 0.2 m</a:t>
            </a:r>
            <a:endParaRPr lang="en-US" sz="15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8" name="Text 41"/>
          <p:cNvSpPr txBox="1"/>
          <p:nvPr/>
        </p:nvSpPr>
        <p:spPr>
          <a:xfrm>
            <a:off x="1143000" y="8229600"/>
            <a:ext cx="26673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34평대</a:t>
            </a:r>
            <a:endParaRPr lang="en-US" sz="19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9" name="Text 42"/>
          <p:cNvSpPr txBox="1"/>
          <p:nvPr/>
        </p:nvSpPr>
        <p:spPr>
          <a:xfrm>
            <a:off x="3810305" y="8229600"/>
            <a:ext cx="49533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dirty="0">
                <a:solidFill>
                  <a:srgbClr val="3A3A38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약 2.5 ~ 2.8 m</a:t>
            </a:r>
            <a:endParaRPr lang="en-US" sz="19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50" name="Text 43"/>
          <p:cNvSpPr txBox="1"/>
          <p:nvPr/>
        </p:nvSpPr>
        <p:spPr>
          <a:xfrm>
            <a:off x="8762695" y="8229600"/>
            <a:ext cx="49533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약 2.7 ~ 3.1 m</a:t>
            </a:r>
            <a:endParaRPr lang="en-US" sz="19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51" name="Text 44"/>
          <p:cNvSpPr txBox="1"/>
          <p:nvPr/>
        </p:nvSpPr>
        <p:spPr>
          <a:xfrm>
            <a:off x="13716000" y="8229600"/>
            <a:ext cx="3620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9E988C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+ 약 0.2 m</a:t>
            </a:r>
            <a:endParaRPr lang="en-US" sz="15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52" name="Text 45"/>
          <p:cNvSpPr txBox="1"/>
          <p:nvPr/>
        </p:nvSpPr>
        <p:spPr>
          <a:xfrm>
            <a:off x="1143000" y="8934602"/>
            <a:ext cx="26673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40평대</a:t>
            </a:r>
            <a:r>
              <a:rPr lang="en-US" sz="1950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+</a:t>
            </a:r>
            <a:endParaRPr lang="en-US" sz="19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53" name="Text 46"/>
          <p:cNvSpPr txBox="1"/>
          <p:nvPr/>
        </p:nvSpPr>
        <p:spPr>
          <a:xfrm>
            <a:off x="3810305" y="8934602"/>
            <a:ext cx="49533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dirty="0">
                <a:solidFill>
                  <a:srgbClr val="3A3A38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약 2.8 ~ 3.1 m</a:t>
            </a:r>
            <a:endParaRPr lang="en-US" sz="19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54" name="Text 47"/>
          <p:cNvSpPr txBox="1"/>
          <p:nvPr/>
        </p:nvSpPr>
        <p:spPr>
          <a:xfrm>
            <a:off x="8762695" y="8934602"/>
            <a:ext cx="49533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약 3.0 ~ 3.4 m</a:t>
            </a:r>
            <a:endParaRPr lang="en-US" sz="19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55" name="Text 48"/>
          <p:cNvSpPr txBox="1"/>
          <p:nvPr/>
        </p:nvSpPr>
        <p:spPr>
          <a:xfrm>
            <a:off x="13716000" y="8934602"/>
            <a:ext cx="3620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9E988C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+ 약 0.2 m</a:t>
            </a:r>
            <a:endParaRPr lang="en-US" sz="15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56" name="Text 49"/>
          <p:cNvSpPr txBox="1"/>
          <p:nvPr/>
        </p:nvSpPr>
        <p:spPr>
          <a:xfrm>
            <a:off x="1410005" y="9658807"/>
            <a:ext cx="11239805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FFFFFF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평형은 </a:t>
            </a:r>
            <a:r>
              <a:rPr lang="en-US" sz="1650" kern="0" spc="-16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참고</a:t>
            </a:r>
            <a:r>
              <a:rPr lang="en-US" sz="1650" kern="0" spc="-16" dirty="0">
                <a:solidFill>
                  <a:srgbClr val="FFFFFF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, 최종 결정은 </a:t>
            </a:r>
            <a:r>
              <a:rPr lang="en-US" sz="1650" b="1" kern="0" spc="-16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실제 시청거리</a:t>
            </a:r>
            <a:r>
              <a:rPr lang="en-US" sz="1650" kern="0" spc="-16" dirty="0">
                <a:solidFill>
                  <a:srgbClr val="FFFFFF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로</a:t>
            </a:r>
            <a:endParaRPr lang="en-US" sz="16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57" name="Text 50"/>
          <p:cNvSpPr txBox="1"/>
          <p:nvPr/>
        </p:nvSpPr>
        <p:spPr>
          <a:xfrm>
            <a:off x="14097305" y="9658807"/>
            <a:ext cx="952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50" kern="0" spc="147" dirty="0">
                <a:solidFill>
                  <a:srgbClr val="B5AFA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CORE</a:t>
            </a:r>
            <a:endParaRPr lang="en-US" sz="10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pic>
        <p:nvPicPr>
          <p:cNvPr id="1026" name="Picture 2" descr="구축 24평 아파트 리모델링 미니멀 감성의 좁은 거실 인테리어">
            <a:extLst>
              <a:ext uri="{FF2B5EF4-FFF2-40B4-BE49-F238E27FC236}">
                <a16:creationId xmlns:a16="http://schemas.microsoft.com/office/drawing/2014/main" id="{D792104D-C44A-481E-A816-C051CACD43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3592" y="3599809"/>
            <a:ext cx="4143298" cy="2067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고강동신축아파트 빛나는 남향 광폭거실 서울 바로옆">
            <a:extLst>
              <a:ext uri="{FF2B5EF4-FFF2-40B4-BE49-F238E27FC236}">
                <a16:creationId xmlns:a16="http://schemas.microsoft.com/office/drawing/2014/main" id="{22450555-47FC-49D9-895B-EE3680C97B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5444" y="3596232"/>
            <a:ext cx="4144366" cy="2067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0">
            <a:extLst>
              <a:ext uri="{FF2B5EF4-FFF2-40B4-BE49-F238E27FC236}">
                <a16:creationId xmlns:a16="http://schemas.microsoft.com/office/drawing/2014/main" id="{4AA0D521-9393-43F2-A379-59B718396C90}"/>
              </a:ext>
            </a:extLst>
          </p:cNvPr>
          <p:cNvSpPr/>
          <p:nvPr/>
        </p:nvSpPr>
        <p:spPr>
          <a:xfrm flipV="1">
            <a:off x="13429793" y="3640790"/>
            <a:ext cx="4697272" cy="1899398"/>
          </a:xfrm>
          <a:prstGeom prst="roundRect">
            <a:avLst>
              <a:gd name="adj" fmla="val 1163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pic>
        <p:nvPicPr>
          <p:cNvPr id="2" name="Image 0" descr="gen-dedup-fd577a1a8bd1a83f01ff41637a147eb7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1143000" y="761695"/>
            <a:ext cx="571500" cy="1920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3619195"/>
            <a:ext cx="12191695" cy="5659276"/>
          </a:xfrm>
          <a:prstGeom prst="roundRect">
            <a:avLst>
              <a:gd name="adj" fmla="val 1163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pic>
        <p:nvPicPr>
          <p:cNvPr id="5" name="Image 1" descr="gen-dedup-110a22a40c6442c5795410e0cb1e1539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1524305" y="4953305"/>
            <a:ext cx="11430000" cy="19202"/>
          </a:xfrm>
          <a:prstGeom prst="rect">
            <a:avLst/>
          </a:prstGeom>
        </p:spPr>
      </p:pic>
      <p:pic>
        <p:nvPicPr>
          <p:cNvPr id="6" name="Image 2" descr="gen-dedup-9a90c48ab5048b43a372742f74ba4348.png"/>
          <p:cNvPicPr>
            <a:picLocks noChangeAspect="1"/>
          </p:cNvPicPr>
          <p:nvPr/>
        </p:nvPicPr>
        <p:blipFill>
          <a:blip r:embed="rId5"/>
          <a:srcRect l="-343" r="-343"/>
          <a:stretch/>
        </p:blipFill>
        <p:spPr>
          <a:xfrm>
            <a:off x="1524305" y="4895698"/>
            <a:ext cx="19202" cy="133502"/>
          </a:xfrm>
          <a:prstGeom prst="rect">
            <a:avLst/>
          </a:prstGeom>
        </p:spPr>
      </p:pic>
      <p:pic>
        <p:nvPicPr>
          <p:cNvPr id="7" name="Image 3" descr="gen-dedup-9a90c48ab5048b43a372742f74ba4348.png"/>
          <p:cNvPicPr>
            <a:picLocks noChangeAspect="1"/>
          </p:cNvPicPr>
          <p:nvPr/>
        </p:nvPicPr>
        <p:blipFill>
          <a:blip r:embed="rId5"/>
          <a:srcRect l="-343" r="-343"/>
          <a:stretch/>
        </p:blipFill>
        <p:spPr>
          <a:xfrm>
            <a:off x="3810305" y="4895698"/>
            <a:ext cx="19202" cy="133502"/>
          </a:xfrm>
          <a:prstGeom prst="rect">
            <a:avLst/>
          </a:prstGeom>
        </p:spPr>
      </p:pic>
      <p:pic>
        <p:nvPicPr>
          <p:cNvPr id="8" name="Image 4" descr="gen-dedup-9a90c48ab5048b43a372742f74ba4348.png"/>
          <p:cNvPicPr>
            <a:picLocks noChangeAspect="1"/>
          </p:cNvPicPr>
          <p:nvPr/>
        </p:nvPicPr>
        <p:blipFill>
          <a:blip r:embed="rId5"/>
          <a:srcRect l="-343" r="-343"/>
          <a:stretch/>
        </p:blipFill>
        <p:spPr>
          <a:xfrm>
            <a:off x="6096305" y="4895698"/>
            <a:ext cx="19202" cy="133502"/>
          </a:xfrm>
          <a:prstGeom prst="rect">
            <a:avLst/>
          </a:prstGeom>
        </p:spPr>
      </p:pic>
      <p:pic>
        <p:nvPicPr>
          <p:cNvPr id="9" name="Image 5" descr="gen-dedup-9a90c48ab5048b43a372742f74ba4348.png"/>
          <p:cNvPicPr>
            <a:picLocks noChangeAspect="1"/>
          </p:cNvPicPr>
          <p:nvPr/>
        </p:nvPicPr>
        <p:blipFill>
          <a:blip r:embed="rId5"/>
          <a:srcRect l="-343" r="-343"/>
          <a:stretch/>
        </p:blipFill>
        <p:spPr>
          <a:xfrm>
            <a:off x="8382305" y="4895698"/>
            <a:ext cx="19202" cy="133502"/>
          </a:xfrm>
          <a:prstGeom prst="rect">
            <a:avLst/>
          </a:prstGeom>
        </p:spPr>
      </p:pic>
      <p:pic>
        <p:nvPicPr>
          <p:cNvPr id="10" name="Image 6" descr="gen-dedup-9a90c48ab5048b43a372742f74ba4348.png"/>
          <p:cNvPicPr>
            <a:picLocks noChangeAspect="1"/>
          </p:cNvPicPr>
          <p:nvPr/>
        </p:nvPicPr>
        <p:blipFill>
          <a:blip r:embed="rId5"/>
          <a:srcRect l="-343" r="-343"/>
          <a:stretch/>
        </p:blipFill>
        <p:spPr>
          <a:xfrm>
            <a:off x="10668305" y="4895698"/>
            <a:ext cx="19202" cy="133502"/>
          </a:xfrm>
          <a:prstGeom prst="rect">
            <a:avLst/>
          </a:prstGeom>
        </p:spPr>
      </p:pic>
      <p:pic>
        <p:nvPicPr>
          <p:cNvPr id="11" name="Image 7" descr="gen-dedup-9a90c48ab5048b43a372742f74ba4348.png"/>
          <p:cNvPicPr>
            <a:picLocks noChangeAspect="1"/>
          </p:cNvPicPr>
          <p:nvPr/>
        </p:nvPicPr>
        <p:blipFill>
          <a:blip r:embed="rId5"/>
          <a:srcRect l="-343" r="-343"/>
          <a:stretch/>
        </p:blipFill>
        <p:spPr>
          <a:xfrm>
            <a:off x="12954305" y="4895698"/>
            <a:ext cx="19202" cy="133502"/>
          </a:xfrm>
          <a:prstGeom prst="rect">
            <a:avLst/>
          </a:prstGeom>
        </p:spPr>
      </p:pic>
      <p:sp>
        <p:nvSpPr>
          <p:cNvPr id="12" name="Shape 2"/>
          <p:cNvSpPr/>
          <p:nvPr/>
        </p:nvSpPr>
        <p:spPr>
          <a:xfrm>
            <a:off x="12602260" y="3722979"/>
            <a:ext cx="133503" cy="1105053"/>
          </a:xfrm>
          <a:prstGeom prst="roundRect">
            <a:avLst>
              <a:gd name="adj" fmla="val 3360"/>
            </a:avLst>
          </a:prstGeom>
          <a:solidFill>
            <a:srgbClr val="1A1A1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3"/>
          <p:cNvSpPr/>
          <p:nvPr/>
        </p:nvSpPr>
        <p:spPr>
          <a:xfrm>
            <a:off x="1429208" y="3971697"/>
            <a:ext cx="1143000" cy="571500"/>
          </a:xfrm>
          <a:prstGeom prst="roundRect">
            <a:avLst>
              <a:gd name="adj" fmla="val 6720"/>
            </a:avLst>
          </a:prstGeom>
          <a:solidFill>
            <a:srgbClr val="A5003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8" descr="gen-dedup-8b93e8eb4b862e97c53ee5a54c4d9efa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2667305" y="4095598"/>
            <a:ext cx="9715500" cy="9144"/>
          </a:xfrm>
          <a:prstGeom prst="rect">
            <a:avLst/>
          </a:prstGeom>
        </p:spPr>
      </p:pic>
      <p:sp>
        <p:nvSpPr>
          <p:cNvPr id="15" name="Shape 4"/>
          <p:cNvSpPr/>
          <p:nvPr/>
        </p:nvSpPr>
        <p:spPr>
          <a:xfrm>
            <a:off x="2667305" y="4048049"/>
            <a:ext cx="75895" cy="105156"/>
          </a:xfrm>
          <a:prstGeom prst="rect">
            <a:avLst/>
          </a:prstGeom>
          <a:solidFill>
            <a:srgbClr val="A5003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5"/>
          <p:cNvSpPr/>
          <p:nvPr/>
        </p:nvSpPr>
        <p:spPr>
          <a:xfrm>
            <a:off x="12305995" y="4048049"/>
            <a:ext cx="75895" cy="105156"/>
          </a:xfrm>
          <a:prstGeom prst="rect">
            <a:avLst/>
          </a:prstGeom>
          <a:solidFill>
            <a:srgbClr val="A5003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9" descr="gen-dedup-9a8af979069dd1f4e76485cffcc904aa.png"/>
          <p:cNvPicPr>
            <a:picLocks noChangeAspect="1"/>
          </p:cNvPicPr>
          <p:nvPr/>
        </p:nvPicPr>
        <p:blipFill>
          <a:blip r:embed="rId7"/>
          <a:srcRect l="-2083" r="-2083"/>
          <a:stretch/>
        </p:blipFill>
        <p:spPr>
          <a:xfrm>
            <a:off x="1524305" y="6286500"/>
            <a:ext cx="11239805" cy="9144"/>
          </a:xfrm>
          <a:prstGeom prst="rect">
            <a:avLst/>
          </a:prstGeom>
        </p:spPr>
      </p:pic>
      <p:pic>
        <p:nvPicPr>
          <p:cNvPr id="18" name="Image 10" descr="gen-dedup-9a8af979069dd1f4e76485cffcc904aa.png"/>
          <p:cNvPicPr>
            <a:picLocks noChangeAspect="1"/>
          </p:cNvPicPr>
          <p:nvPr/>
        </p:nvPicPr>
        <p:blipFill>
          <a:blip r:embed="rId7"/>
          <a:srcRect l="-2083" r="-2083"/>
          <a:stretch/>
        </p:blipFill>
        <p:spPr>
          <a:xfrm>
            <a:off x="1524305" y="7010705"/>
            <a:ext cx="11239805" cy="9144"/>
          </a:xfrm>
          <a:prstGeom prst="rect">
            <a:avLst/>
          </a:prstGeom>
        </p:spPr>
      </p:pic>
      <p:pic>
        <p:nvPicPr>
          <p:cNvPr id="19" name="Image 11" descr="gen-dedup-9a8af979069dd1f4e76485cffcc904aa.png"/>
          <p:cNvPicPr>
            <a:picLocks noChangeAspect="1"/>
          </p:cNvPicPr>
          <p:nvPr/>
        </p:nvPicPr>
        <p:blipFill>
          <a:blip r:embed="rId7"/>
          <a:srcRect l="-2083" r="-2083"/>
          <a:stretch/>
        </p:blipFill>
        <p:spPr>
          <a:xfrm>
            <a:off x="1524305" y="7733995"/>
            <a:ext cx="11239805" cy="9144"/>
          </a:xfrm>
          <a:prstGeom prst="rect">
            <a:avLst/>
          </a:prstGeom>
        </p:spPr>
      </p:pic>
      <p:pic>
        <p:nvPicPr>
          <p:cNvPr id="21" name="Image 13" descr="gen-dedup-9a8af979069dd1f4e76485cffcc904aa.png"/>
          <p:cNvPicPr>
            <a:picLocks noChangeAspect="1"/>
          </p:cNvPicPr>
          <p:nvPr/>
        </p:nvPicPr>
        <p:blipFill>
          <a:blip r:embed="rId7"/>
          <a:srcRect l="-2083" r="-2083"/>
          <a:stretch/>
        </p:blipFill>
        <p:spPr>
          <a:xfrm>
            <a:off x="1524305" y="8458200"/>
            <a:ext cx="11239805" cy="9144"/>
          </a:xfrm>
          <a:prstGeom prst="rect">
            <a:avLst/>
          </a:prstGeom>
        </p:spPr>
      </p:pic>
      <p:sp>
        <p:nvSpPr>
          <p:cNvPr id="22" name="Text 6"/>
          <p:cNvSpPr txBox="1"/>
          <p:nvPr/>
        </p:nvSpPr>
        <p:spPr>
          <a:xfrm>
            <a:off x="1143000" y="914400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kern="0" spc="243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STEP 2-2 </a:t>
            </a:r>
            <a:r>
              <a:rPr lang="en-US" sz="1350" b="1" kern="0" spc="243" dirty="0">
                <a:solidFill>
                  <a:srgbClr val="B5AFA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/ 시청거리 → TV 크기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4" name="Text 8"/>
          <p:cNvSpPr txBox="1"/>
          <p:nvPr/>
        </p:nvSpPr>
        <p:spPr>
          <a:xfrm>
            <a:off x="1143000" y="1524305"/>
            <a:ext cx="4953305" cy="7434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kern="0" spc="-93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소파에서 TV까지,</a:t>
            </a:r>
            <a:endParaRPr lang="en-US" sz="48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5" name="Text 9"/>
          <p:cNvSpPr txBox="1"/>
          <p:nvPr/>
        </p:nvSpPr>
        <p:spPr>
          <a:xfrm>
            <a:off x="1072917" y="2266798"/>
            <a:ext cx="5452241" cy="7434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93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몇 m인가요?</a:t>
            </a:r>
            <a:endParaRPr lang="en-US" sz="48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6" name="Text 10"/>
          <p:cNvSpPr txBox="1"/>
          <p:nvPr/>
        </p:nvSpPr>
        <p:spPr>
          <a:xfrm>
            <a:off x="1524305" y="5143500"/>
            <a:ext cx="5715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kern="0" spc="-13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1.7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7" name="Text 11"/>
          <p:cNvSpPr txBox="1"/>
          <p:nvPr/>
        </p:nvSpPr>
        <p:spPr>
          <a:xfrm>
            <a:off x="3810305" y="5143500"/>
            <a:ext cx="5715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kern="0" spc="-13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2.0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8" name="Text 12"/>
          <p:cNvSpPr txBox="1"/>
          <p:nvPr/>
        </p:nvSpPr>
        <p:spPr>
          <a:xfrm>
            <a:off x="6096305" y="5143500"/>
            <a:ext cx="5715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kern="0" spc="-13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2.3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9" name="Text 13"/>
          <p:cNvSpPr txBox="1"/>
          <p:nvPr/>
        </p:nvSpPr>
        <p:spPr>
          <a:xfrm>
            <a:off x="8382305" y="5143500"/>
            <a:ext cx="5715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kern="0" spc="-13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2.6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0" name="Text 14"/>
          <p:cNvSpPr txBox="1"/>
          <p:nvPr/>
        </p:nvSpPr>
        <p:spPr>
          <a:xfrm>
            <a:off x="10668305" y="5143500"/>
            <a:ext cx="5715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kern="0" spc="-13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3.0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1" name="Text 15"/>
          <p:cNvSpPr txBox="1"/>
          <p:nvPr/>
        </p:nvSpPr>
        <p:spPr>
          <a:xfrm>
            <a:off x="12954305" y="5143500"/>
            <a:ext cx="5715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kern="0" spc="-13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m+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2" name="Text 16"/>
          <p:cNvSpPr txBox="1"/>
          <p:nvPr/>
        </p:nvSpPr>
        <p:spPr>
          <a:xfrm>
            <a:off x="11811305" y="4990795"/>
            <a:ext cx="1714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E988C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TV</a:t>
            </a:r>
            <a:endParaRPr lang="en-US" sz="16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3" name="Text 17"/>
          <p:cNvSpPr txBox="1"/>
          <p:nvPr/>
        </p:nvSpPr>
        <p:spPr>
          <a:xfrm>
            <a:off x="1429208" y="4619092"/>
            <a:ext cx="1143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9E988C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소파</a:t>
            </a:r>
            <a:endParaRPr lang="en-US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4" name="Text 18"/>
          <p:cNvSpPr txBox="1"/>
          <p:nvPr/>
        </p:nvSpPr>
        <p:spPr>
          <a:xfrm>
            <a:off x="1524305" y="5734202"/>
            <a:ext cx="26673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kern="0" spc="-18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1.7 ~ 2.0 m</a:t>
            </a:r>
            <a:endParaRPr lang="en-US" sz="18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5" name="Text 19"/>
          <p:cNvSpPr txBox="1"/>
          <p:nvPr/>
        </p:nvSpPr>
        <p:spPr>
          <a:xfrm>
            <a:off x="1524305" y="5734202"/>
            <a:ext cx="11144707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-18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→ 55 ~ 65형</a:t>
            </a:r>
            <a:endParaRPr lang="en-US" sz="18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6" name="Text 20"/>
          <p:cNvSpPr txBox="1"/>
          <p:nvPr/>
        </p:nvSpPr>
        <p:spPr>
          <a:xfrm>
            <a:off x="1524305" y="6458407"/>
            <a:ext cx="26673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kern="0" spc="-18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2.0 ~ 2.3 m</a:t>
            </a:r>
            <a:endParaRPr lang="en-US" sz="18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7" name="Text 21"/>
          <p:cNvSpPr txBox="1"/>
          <p:nvPr/>
        </p:nvSpPr>
        <p:spPr>
          <a:xfrm>
            <a:off x="1524305" y="6458407"/>
            <a:ext cx="11144707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-18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→ 65 ~ 75형</a:t>
            </a:r>
            <a:endParaRPr lang="en-US" sz="18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8" name="Text 22"/>
          <p:cNvSpPr txBox="1"/>
          <p:nvPr/>
        </p:nvSpPr>
        <p:spPr>
          <a:xfrm>
            <a:off x="1524305" y="7181698"/>
            <a:ext cx="26673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kern="0" spc="-18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2.3 ~ 2.6 m</a:t>
            </a:r>
            <a:endParaRPr lang="en-US" sz="18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9" name="Text 23"/>
          <p:cNvSpPr txBox="1"/>
          <p:nvPr/>
        </p:nvSpPr>
        <p:spPr>
          <a:xfrm>
            <a:off x="1524305" y="7181698"/>
            <a:ext cx="11144707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-18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→ 75 ~ 86형</a:t>
            </a:r>
            <a:endParaRPr lang="en-US" sz="18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0" name="Text 24"/>
          <p:cNvSpPr txBox="1"/>
          <p:nvPr/>
        </p:nvSpPr>
        <p:spPr>
          <a:xfrm>
            <a:off x="1524305" y="7905902"/>
            <a:ext cx="26673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kern="0" spc="-18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2.6 ~ 3.0 m</a:t>
            </a:r>
            <a:endParaRPr lang="en-US" sz="18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1" name="Text 25"/>
          <p:cNvSpPr txBox="1"/>
          <p:nvPr/>
        </p:nvSpPr>
        <p:spPr>
          <a:xfrm>
            <a:off x="1524305" y="7905902"/>
            <a:ext cx="11144707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-18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→ 86 ~ 98형</a:t>
            </a:r>
            <a:endParaRPr lang="en-US" sz="18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2" name="Text 26"/>
          <p:cNvSpPr txBox="1"/>
          <p:nvPr/>
        </p:nvSpPr>
        <p:spPr>
          <a:xfrm>
            <a:off x="14002207" y="3905402"/>
            <a:ext cx="304861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kern="0" spc="243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CORE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3" name="Text 27"/>
          <p:cNvSpPr txBox="1"/>
          <p:nvPr/>
        </p:nvSpPr>
        <p:spPr>
          <a:xfrm>
            <a:off x="14002207" y="4248302"/>
            <a:ext cx="304861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dirty="0"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TV 크기는</a:t>
            </a:r>
            <a:endParaRPr lang="en-US" sz="19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4" name="Text 28"/>
          <p:cNvSpPr txBox="1"/>
          <p:nvPr/>
        </p:nvSpPr>
        <p:spPr>
          <a:xfrm>
            <a:off x="14002207" y="4629607"/>
            <a:ext cx="304861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dirty="0"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거실 평수가 아니라</a:t>
            </a:r>
            <a:endParaRPr lang="en-US" sz="19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5" name="Text 29"/>
          <p:cNvSpPr txBox="1"/>
          <p:nvPr/>
        </p:nvSpPr>
        <p:spPr>
          <a:xfrm>
            <a:off x="14002207" y="5009998"/>
            <a:ext cx="3400654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dirty="0"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내가 </a:t>
            </a:r>
            <a:r>
              <a:rPr lang="en-US" sz="1950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실제로 </a:t>
            </a:r>
            <a:r>
              <a:rPr lang="en-US" sz="1950" dirty="0" err="1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보는</a:t>
            </a:r>
            <a:r>
              <a:rPr lang="en-US" sz="1950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 </a:t>
            </a:r>
            <a:r>
              <a:rPr lang="en-US" sz="1950" dirty="0" err="1"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거리에서</a:t>
            </a:r>
            <a:r>
              <a:rPr lang="en-US" sz="1950" dirty="0"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 </a:t>
            </a:r>
            <a:r>
              <a:rPr lang="ko-KR" altLang="en-US" sz="1950" dirty="0"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결정합니다</a:t>
            </a:r>
            <a:r>
              <a:rPr lang="en-US" altLang="ko-KR" sz="1950" dirty="0"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.</a:t>
            </a:r>
            <a:endParaRPr lang="en-US" sz="19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50" name="Text 34"/>
          <p:cNvSpPr txBox="1"/>
          <p:nvPr/>
        </p:nvSpPr>
        <p:spPr>
          <a:xfrm>
            <a:off x="1524305" y="8572500"/>
            <a:ext cx="2667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kern="0" spc="-16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3.0 m 이상</a:t>
            </a:r>
            <a:endParaRPr lang="en-US" sz="16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51" name="Text 35"/>
          <p:cNvSpPr txBox="1"/>
          <p:nvPr/>
        </p:nvSpPr>
        <p:spPr>
          <a:xfrm>
            <a:off x="1524305" y="8572500"/>
            <a:ext cx="11144707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kern="0" spc="-16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→ 97 ~ 100형 이상</a:t>
            </a:r>
            <a:endParaRPr lang="en-US" sz="16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fd577a1a8bd1a83f01ff41637a147eb7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1143000" y="761695"/>
            <a:ext cx="571500" cy="1920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4095598"/>
            <a:ext cx="7810805" cy="1904695"/>
          </a:xfrm>
          <a:prstGeom prst="roundRect">
            <a:avLst>
              <a:gd name="adj" fmla="val 3024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334195" y="4095598"/>
            <a:ext cx="7810805" cy="1904695"/>
          </a:xfrm>
          <a:prstGeom prst="roundRect">
            <a:avLst>
              <a:gd name="adj" fmla="val 3024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143000" y="6191402"/>
            <a:ext cx="7810805" cy="1904695"/>
          </a:xfrm>
          <a:prstGeom prst="roundRect">
            <a:avLst>
              <a:gd name="adj" fmla="val 3024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334195" y="6191402"/>
            <a:ext cx="7810805" cy="1904695"/>
          </a:xfrm>
          <a:prstGeom prst="roundRect">
            <a:avLst>
              <a:gd name="adj" fmla="val 3024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pic>
        <p:nvPicPr>
          <p:cNvPr id="8" name="Image 1" descr="gen-dedup-06d199c80c686a4b18d7cc8cc93bd805.png"/>
          <p:cNvPicPr>
            <a:picLocks noChangeAspect="1"/>
          </p:cNvPicPr>
          <p:nvPr/>
        </p:nvPicPr>
        <p:blipFill>
          <a:blip r:embed="rId4"/>
          <a:srcRect t="-4" b="-4"/>
          <a:stretch/>
        </p:blipFill>
        <p:spPr>
          <a:xfrm>
            <a:off x="1121861" y="8382305"/>
            <a:ext cx="7831944" cy="11430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333195" y="4286707"/>
            <a:ext cx="2857500" cy="1524305"/>
          </a:xfrm>
          <a:prstGeom prst="roundRect">
            <a:avLst>
              <a:gd name="adj" fmla="val 2519"/>
            </a:avLst>
          </a:prstGeom>
          <a:solidFill>
            <a:srgbClr val="EEEA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9525305" y="4286707"/>
            <a:ext cx="2857500" cy="1524305"/>
          </a:xfrm>
          <a:prstGeom prst="roundRect">
            <a:avLst>
              <a:gd name="adj" fmla="val 2519"/>
            </a:avLst>
          </a:prstGeom>
          <a:solidFill>
            <a:srgbClr val="EEEA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3" descr="gen-dedup-8cad49d4398dde67349d28d37421413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305" y="4286707"/>
            <a:ext cx="2857500" cy="1524305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1333195" y="6381598"/>
            <a:ext cx="2857500" cy="1524305"/>
          </a:xfrm>
          <a:prstGeom prst="roundRect">
            <a:avLst>
              <a:gd name="adj" fmla="val 2519"/>
            </a:avLst>
          </a:prstGeom>
          <a:solidFill>
            <a:srgbClr val="EEEA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4" descr="gen-dedup-500c4c7a37e98c97b28e975ce0e778b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3195" y="6381598"/>
            <a:ext cx="2857500" cy="1524305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9525305" y="6381598"/>
            <a:ext cx="2857500" cy="1524305"/>
          </a:xfrm>
          <a:prstGeom prst="roundRect">
            <a:avLst>
              <a:gd name="adj" fmla="val 2519"/>
            </a:avLst>
          </a:prstGeom>
          <a:solidFill>
            <a:srgbClr val="EEEA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6" name="Image 5" descr="gen-dedup-674750f7bb5287f04661fdb168b92b8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305" y="6381598"/>
            <a:ext cx="2857500" cy="1524305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9525305" y="4095598"/>
            <a:ext cx="761695" cy="342900"/>
          </a:xfrm>
          <a:prstGeom prst="roundRect">
            <a:avLst>
              <a:gd name="adj" fmla="val 11200"/>
            </a:avLst>
          </a:prstGeom>
          <a:solidFill>
            <a:srgbClr val="A5003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1"/>
          <p:cNvSpPr/>
          <p:nvPr/>
        </p:nvSpPr>
        <p:spPr>
          <a:xfrm>
            <a:off x="1333195" y="6191402"/>
            <a:ext cx="761695" cy="342900"/>
          </a:xfrm>
          <a:prstGeom prst="roundRect">
            <a:avLst>
              <a:gd name="adj" fmla="val 11200"/>
            </a:avLst>
          </a:prstGeom>
          <a:solidFill>
            <a:srgbClr val="A5003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2"/>
          <p:cNvSpPr/>
          <p:nvPr/>
        </p:nvSpPr>
        <p:spPr>
          <a:xfrm>
            <a:off x="9525305" y="6191402"/>
            <a:ext cx="761695" cy="342900"/>
          </a:xfrm>
          <a:prstGeom prst="roundRect">
            <a:avLst>
              <a:gd name="adj" fmla="val 11200"/>
            </a:avLst>
          </a:prstGeom>
          <a:solidFill>
            <a:srgbClr val="A5003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4"/>
          <p:cNvSpPr txBox="1"/>
          <p:nvPr/>
        </p:nvSpPr>
        <p:spPr>
          <a:xfrm>
            <a:off x="9525305" y="4095598"/>
            <a:ext cx="762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135" dirty="0">
                <a:solidFill>
                  <a:srgbClr val="FFFFFF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02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3" name="Text 15"/>
          <p:cNvSpPr txBox="1"/>
          <p:nvPr/>
        </p:nvSpPr>
        <p:spPr>
          <a:xfrm>
            <a:off x="1333195" y="6191402"/>
            <a:ext cx="762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135" dirty="0">
                <a:solidFill>
                  <a:srgbClr val="FFFFFF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03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4" name="Text 16"/>
          <p:cNvSpPr txBox="1"/>
          <p:nvPr/>
        </p:nvSpPr>
        <p:spPr>
          <a:xfrm>
            <a:off x="9525305" y="6191402"/>
            <a:ext cx="762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135" dirty="0">
                <a:solidFill>
                  <a:srgbClr val="FFFFFF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04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5" name="Text 17"/>
          <p:cNvSpPr txBox="1"/>
          <p:nvPr/>
        </p:nvSpPr>
        <p:spPr>
          <a:xfrm>
            <a:off x="1143000" y="914400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kern="0" spc="243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STEP 3 </a:t>
            </a:r>
            <a:r>
              <a:rPr lang="en-US" sz="1350" b="1" kern="0" spc="243" dirty="0">
                <a:solidFill>
                  <a:srgbClr val="B5AFA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/ TV 설치 방식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7" name="Text 19"/>
          <p:cNvSpPr txBox="1"/>
          <p:nvPr/>
        </p:nvSpPr>
        <p:spPr>
          <a:xfrm>
            <a:off x="1143000" y="1524305"/>
            <a:ext cx="14097305" cy="7050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kern="0" spc="-87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TV를 어디에,</a:t>
            </a:r>
            <a:endParaRPr lang="en-US" sz="48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8" name="Text 20"/>
          <p:cNvSpPr txBox="1"/>
          <p:nvPr/>
        </p:nvSpPr>
        <p:spPr>
          <a:xfrm>
            <a:off x="1121861" y="2334464"/>
            <a:ext cx="14097305" cy="7050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87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어떻게 설치할까요?</a:t>
            </a:r>
            <a:endParaRPr lang="en-US" sz="48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9" name="Text 21"/>
          <p:cNvSpPr txBox="1"/>
          <p:nvPr/>
        </p:nvSpPr>
        <p:spPr>
          <a:xfrm>
            <a:off x="1143000" y="3372307"/>
            <a:ext cx="14097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3A3A38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4가지 대표 설치방식 — 집 구조, 벽 상태, 인테리어 방향에 따라 결정됩니다.</a:t>
            </a:r>
            <a:endParaRPr lang="en-US" sz="18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0" name="Text 22"/>
          <p:cNvSpPr txBox="1"/>
          <p:nvPr/>
        </p:nvSpPr>
        <p:spPr>
          <a:xfrm>
            <a:off x="4438498" y="4381805"/>
            <a:ext cx="41916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kern="0" spc="-22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스탠드형</a:t>
            </a:r>
            <a:endParaRPr lang="en-US" sz="22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1" name="Text 23"/>
          <p:cNvSpPr txBox="1"/>
          <p:nvPr/>
        </p:nvSpPr>
        <p:spPr>
          <a:xfrm>
            <a:off x="4438498" y="4867351"/>
            <a:ext cx="4191610" cy="599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TV를 받침대 위에 </a:t>
            </a:r>
            <a:r>
              <a:rPr lang="en-US" sz="1500" dirty="0" err="1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그대로</a:t>
            </a:r>
            <a:r>
              <a:rPr lang="en-US" sz="1500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 </a:t>
            </a:r>
            <a:r>
              <a:rPr lang="en-US" sz="1500" dirty="0" err="1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올려</a:t>
            </a:r>
            <a:r>
              <a:rPr lang="ko-KR" altLang="en-US" sz="1500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두</a:t>
            </a:r>
            <a:r>
              <a:rPr lang="en-US" sz="1500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는 가장 익숙한 방식.</a:t>
            </a:r>
            <a:endParaRPr lang="en-US" sz="15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TV장 위치·크기와 함께 설계</a:t>
            </a:r>
            <a:r>
              <a:rPr lang="en-US" sz="1500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해야 합니다.</a:t>
            </a:r>
            <a:endParaRPr lang="en-US" sz="15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2" name="Text 24"/>
          <p:cNvSpPr txBox="1"/>
          <p:nvPr/>
        </p:nvSpPr>
        <p:spPr>
          <a:xfrm>
            <a:off x="12630607" y="4381805"/>
            <a:ext cx="41916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kern="0" spc="-22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이젤형 거치대</a:t>
            </a:r>
            <a:endParaRPr lang="en-US" sz="22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3" name="Text 25"/>
          <p:cNvSpPr txBox="1"/>
          <p:nvPr/>
        </p:nvSpPr>
        <p:spPr>
          <a:xfrm>
            <a:off x="12630607" y="4867351"/>
            <a:ext cx="4191610" cy="599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별도 거치대로 바닥에 설치. 디자인뿐 아니라</a:t>
            </a:r>
            <a:endParaRPr lang="en-US" sz="15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하중·안정성·TV 크기</a:t>
            </a:r>
            <a:r>
              <a:rPr lang="en-US" sz="1500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를 함께 봐야 합니다.</a:t>
            </a:r>
            <a:endParaRPr lang="en-US" sz="15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4" name="Text 26"/>
          <p:cNvSpPr txBox="1"/>
          <p:nvPr/>
        </p:nvSpPr>
        <p:spPr>
          <a:xfrm>
            <a:off x="4438498" y="6476695"/>
            <a:ext cx="41916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kern="0" spc="-22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벽걸이 타공</a:t>
            </a:r>
            <a:endParaRPr lang="en-US" sz="22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5" name="Text 27"/>
          <p:cNvSpPr txBox="1"/>
          <p:nvPr/>
        </p:nvSpPr>
        <p:spPr>
          <a:xfrm>
            <a:off x="4438498" y="6963156"/>
            <a:ext cx="4191610" cy="599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벽에 직접 못·앵커로 고정.</a:t>
            </a:r>
            <a:endParaRPr lang="en-US" sz="15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벽면 상태·콘센트·케이블 동선</a:t>
            </a:r>
            <a:r>
              <a:rPr lang="en-US" sz="1500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을 사전에 확인합니다.</a:t>
            </a:r>
            <a:endParaRPr lang="en-US" sz="15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6" name="Text 28"/>
          <p:cNvSpPr txBox="1"/>
          <p:nvPr/>
        </p:nvSpPr>
        <p:spPr>
          <a:xfrm>
            <a:off x="12630607" y="6476695"/>
            <a:ext cx="41916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kern="0" spc="-22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벽걸이 무타공</a:t>
            </a:r>
            <a:endParaRPr lang="en-US" sz="22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7" name="Text 29"/>
          <p:cNvSpPr txBox="1"/>
          <p:nvPr/>
        </p:nvSpPr>
        <p:spPr>
          <a:xfrm>
            <a:off x="12630607" y="6963156"/>
            <a:ext cx="4191610" cy="599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벽에 구멍을 뚫지 않는 특수 거치 방식.</a:t>
            </a:r>
            <a:endParaRPr lang="en-US" sz="15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벽 종류·TV 무게</a:t>
            </a:r>
            <a:r>
              <a:rPr lang="en-US" sz="1500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에 따라 적용 범위가 달라집니다.</a:t>
            </a:r>
            <a:endParaRPr lang="en-US" sz="15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8" name="Text 30"/>
          <p:cNvSpPr txBox="1"/>
          <p:nvPr/>
        </p:nvSpPr>
        <p:spPr>
          <a:xfrm>
            <a:off x="1524305" y="8591702"/>
            <a:ext cx="114300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kern="0" spc="243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CONSULT FLOW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9" name="Text 31"/>
          <p:cNvSpPr txBox="1"/>
          <p:nvPr/>
        </p:nvSpPr>
        <p:spPr>
          <a:xfrm>
            <a:off x="1524305" y="8934602"/>
            <a:ext cx="1143000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kern="0" spc="72" dirty="0"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디자인 → 공간 → 벽 상태 → TV 크기 → 셋톱박스 → 케이블</a:t>
            </a:r>
            <a:endParaRPr lang="en-US" sz="18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pic>
        <p:nvPicPr>
          <p:cNvPr id="2050" name="Picture 2" descr="거실티비장 LED 불빛으로 아늑한 거실꾸미기">
            <a:extLst>
              <a:ext uri="{FF2B5EF4-FFF2-40B4-BE49-F238E27FC236}">
                <a16:creationId xmlns:a16="http://schemas.microsoft.com/office/drawing/2014/main" id="{84CDFCDB-3A4F-4C7E-9404-CD1DB11C10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184" b="15191"/>
          <a:stretch/>
        </p:blipFill>
        <p:spPr bwMode="auto">
          <a:xfrm>
            <a:off x="1333500" y="4272532"/>
            <a:ext cx="2857195" cy="1727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Shape 9"/>
          <p:cNvSpPr/>
          <p:nvPr/>
        </p:nvSpPr>
        <p:spPr>
          <a:xfrm>
            <a:off x="1333195" y="4095598"/>
            <a:ext cx="761695" cy="342900"/>
          </a:xfrm>
          <a:prstGeom prst="roundRect">
            <a:avLst>
              <a:gd name="adj" fmla="val 11200"/>
            </a:avLst>
          </a:prstGeom>
          <a:solidFill>
            <a:srgbClr val="A5003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3"/>
          <p:cNvSpPr txBox="1"/>
          <p:nvPr/>
        </p:nvSpPr>
        <p:spPr>
          <a:xfrm>
            <a:off x="1316897" y="4081423"/>
            <a:ext cx="762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135" dirty="0">
                <a:solidFill>
                  <a:srgbClr val="FFFFFF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01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4">
            <a:extLst>
              <a:ext uri="{FF2B5EF4-FFF2-40B4-BE49-F238E27FC236}">
                <a16:creationId xmlns:a16="http://schemas.microsoft.com/office/drawing/2014/main" id="{E8E1FC8F-DF2E-4F9F-ACCA-1E886507EC24}"/>
              </a:ext>
            </a:extLst>
          </p:cNvPr>
          <p:cNvSpPr/>
          <p:nvPr/>
        </p:nvSpPr>
        <p:spPr>
          <a:xfrm>
            <a:off x="1143000" y="8566086"/>
            <a:ext cx="4953305" cy="838505"/>
          </a:xfrm>
          <a:prstGeom prst="roundRect">
            <a:avLst>
              <a:gd name="adj" fmla="val 6870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pic>
        <p:nvPicPr>
          <p:cNvPr id="2" name="Image 0" descr="gen-dedup-fd577a1a8bd1a83f01ff41637a147eb7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1143000" y="761695"/>
            <a:ext cx="571500" cy="1920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2051064" y="4643297"/>
            <a:ext cx="6053492" cy="4783524"/>
          </a:xfrm>
          <a:prstGeom prst="roundRect">
            <a:avLst>
              <a:gd name="adj" fmla="val 1592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43000" y="4743907"/>
            <a:ext cx="4953305" cy="838505"/>
          </a:xfrm>
          <a:prstGeom prst="roundRect">
            <a:avLst>
              <a:gd name="adj" fmla="val 6870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143000" y="5695798"/>
            <a:ext cx="4953305" cy="838505"/>
          </a:xfrm>
          <a:prstGeom prst="roundRect">
            <a:avLst>
              <a:gd name="adj" fmla="val 6870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43000" y="6693402"/>
            <a:ext cx="4953305" cy="838505"/>
          </a:xfrm>
          <a:prstGeom prst="roundRect">
            <a:avLst>
              <a:gd name="adj" fmla="val 6870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43000" y="7645293"/>
            <a:ext cx="4953305" cy="838505"/>
          </a:xfrm>
          <a:prstGeom prst="roundRect">
            <a:avLst>
              <a:gd name="adj" fmla="val 6870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89937" y="4953305"/>
            <a:ext cx="5333695" cy="2081754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77152" y="7220540"/>
            <a:ext cx="5333695" cy="1930311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447495" y="4953305"/>
            <a:ext cx="342900" cy="34290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447495" y="5905195"/>
            <a:ext cx="342900" cy="34290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1447495" y="6902800"/>
            <a:ext cx="342900" cy="34290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1447495" y="4953305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-13" dirty="0">
                <a:solidFill>
                  <a:srgbClr val="FFFFFF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1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4" name="Text 20"/>
          <p:cNvSpPr txBox="1"/>
          <p:nvPr/>
        </p:nvSpPr>
        <p:spPr>
          <a:xfrm>
            <a:off x="1447495" y="5905195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-13" dirty="0">
                <a:solidFill>
                  <a:srgbClr val="FFFFFF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2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5" name="Text 21"/>
          <p:cNvSpPr txBox="1"/>
          <p:nvPr/>
        </p:nvSpPr>
        <p:spPr>
          <a:xfrm>
            <a:off x="1467208" y="6886045"/>
            <a:ext cx="323187" cy="379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-13" dirty="0">
                <a:solidFill>
                  <a:srgbClr val="FFFFFF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3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3" name="Text 28"/>
          <p:cNvSpPr txBox="1"/>
          <p:nvPr/>
        </p:nvSpPr>
        <p:spPr>
          <a:xfrm>
            <a:off x="1143000" y="914400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43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STEP 3-1 </a:t>
            </a:r>
            <a:r>
              <a:rPr lang="en-US" sz="1600" b="1" kern="0" spc="243" dirty="0">
                <a:solidFill>
                  <a:srgbClr val="B5AFA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/ 스탠드형</a:t>
            </a:r>
            <a:endParaRPr lang="en-US" sz="16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5" name="Text 30"/>
          <p:cNvSpPr txBox="1"/>
          <p:nvPr/>
        </p:nvSpPr>
        <p:spPr>
          <a:xfrm>
            <a:off x="1143000" y="1524305"/>
            <a:ext cx="12192610" cy="648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kern="0" spc="-81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스탠드 TV는</a:t>
            </a:r>
            <a:endParaRPr lang="en-US" sz="48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6" name="Text 31"/>
          <p:cNvSpPr txBox="1"/>
          <p:nvPr/>
        </p:nvSpPr>
        <p:spPr>
          <a:xfrm>
            <a:off x="1143000" y="2171700"/>
            <a:ext cx="12192610" cy="648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81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TV장까지 함께 봐야 합니다</a:t>
            </a:r>
            <a:endParaRPr lang="en-US" sz="48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7" name="Text 32"/>
          <p:cNvSpPr txBox="1"/>
          <p:nvPr/>
        </p:nvSpPr>
        <p:spPr>
          <a:xfrm>
            <a:off x="1333652" y="3134566"/>
            <a:ext cx="10287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3A3A38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스탠드형 TV는 바닥에 바로 놓는 경우가 드뭅니다.</a:t>
            </a:r>
            <a:endParaRPr lang="en-US" sz="24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3A3A38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대부분 </a:t>
            </a:r>
            <a:r>
              <a:rPr lang="en-US" sz="24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TV장 / 장식장 </a:t>
            </a:r>
            <a:r>
              <a:rPr lang="en-US" sz="2400" dirty="0" err="1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위에</a:t>
            </a:r>
            <a:r>
              <a:rPr lang="en-US" sz="24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 올</a:t>
            </a:r>
            <a:r>
              <a:rPr lang="ko-KR" altLang="en-US" sz="2400" dirty="0" err="1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려놓</a:t>
            </a:r>
            <a:r>
              <a:rPr lang="en-US" sz="24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는 구성</a:t>
            </a:r>
            <a:r>
              <a:rPr lang="en-US" sz="2400" dirty="0">
                <a:solidFill>
                  <a:srgbClr val="3A3A38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을 함께 봐야 합니다.</a:t>
            </a:r>
            <a:endParaRPr lang="en-US" sz="24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8" name="Text 33"/>
          <p:cNvSpPr txBox="1"/>
          <p:nvPr/>
        </p:nvSpPr>
        <p:spPr>
          <a:xfrm>
            <a:off x="1143000" y="4114800"/>
            <a:ext cx="26673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kern="0" spc="243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CHECK POINT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9" name="Text 34"/>
          <p:cNvSpPr txBox="1"/>
          <p:nvPr/>
        </p:nvSpPr>
        <p:spPr>
          <a:xfrm>
            <a:off x="1143000" y="4401007"/>
            <a:ext cx="26673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다섯 가지를 함께 확인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0" name="Text 35"/>
          <p:cNvSpPr txBox="1"/>
          <p:nvPr/>
        </p:nvSpPr>
        <p:spPr>
          <a:xfrm>
            <a:off x="1943100" y="4934102"/>
            <a:ext cx="3810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거실 벽면 폭</a:t>
            </a:r>
            <a:endParaRPr lang="en-US" sz="16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1" name="Text 36"/>
          <p:cNvSpPr txBox="1"/>
          <p:nvPr/>
        </p:nvSpPr>
        <p:spPr>
          <a:xfrm>
            <a:off x="1943100" y="5277002"/>
            <a:ext cx="3810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E988C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TV장 + TV 합산 폭 확인</a:t>
            </a:r>
            <a:endParaRPr lang="en-US" sz="12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2" name="Text 37"/>
          <p:cNvSpPr txBox="1"/>
          <p:nvPr/>
        </p:nvSpPr>
        <p:spPr>
          <a:xfrm>
            <a:off x="1943100" y="5886907"/>
            <a:ext cx="3810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TV 실제 가로폭</a:t>
            </a:r>
            <a:endParaRPr lang="en-US" sz="16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3" name="Text 38"/>
          <p:cNvSpPr txBox="1"/>
          <p:nvPr/>
        </p:nvSpPr>
        <p:spPr>
          <a:xfrm>
            <a:off x="1943100" y="6229807"/>
            <a:ext cx="3810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E988C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받침대 폭과 다리 간격</a:t>
            </a:r>
            <a:endParaRPr lang="en-US" sz="12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4" name="Text 39"/>
          <p:cNvSpPr txBox="1"/>
          <p:nvPr/>
        </p:nvSpPr>
        <p:spPr>
          <a:xfrm>
            <a:off x="1943100" y="6883597"/>
            <a:ext cx="3810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TV장 크기</a:t>
            </a:r>
            <a:endParaRPr lang="en-US" sz="16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5" name="Text 40"/>
          <p:cNvSpPr txBox="1"/>
          <p:nvPr/>
        </p:nvSpPr>
        <p:spPr>
          <a:xfrm>
            <a:off x="1943100" y="7226497"/>
            <a:ext cx="3810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E988C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받침 발이 들어가는지</a:t>
            </a:r>
            <a:endParaRPr lang="en-US" sz="12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6" name="Text 41"/>
          <p:cNvSpPr txBox="1"/>
          <p:nvPr/>
        </p:nvSpPr>
        <p:spPr>
          <a:xfrm>
            <a:off x="1943100" y="7836402"/>
            <a:ext cx="3810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스탠드 구조</a:t>
            </a:r>
            <a:endParaRPr lang="en-US" sz="16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7" name="Text 42"/>
          <p:cNvSpPr txBox="1"/>
          <p:nvPr/>
        </p:nvSpPr>
        <p:spPr>
          <a:xfrm>
            <a:off x="1943100" y="8179302"/>
            <a:ext cx="3810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E988C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중앙형 / 양쪽 2발 구분</a:t>
            </a:r>
            <a:endParaRPr lang="en-US" sz="12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50" name="Text 45"/>
          <p:cNvSpPr txBox="1"/>
          <p:nvPr/>
        </p:nvSpPr>
        <p:spPr>
          <a:xfrm>
            <a:off x="6775230" y="5144415"/>
            <a:ext cx="2286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189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중앙형 스탠드</a:t>
            </a:r>
            <a:endParaRPr lang="en-US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51" name="Text 46"/>
          <p:cNvSpPr txBox="1"/>
          <p:nvPr/>
        </p:nvSpPr>
        <p:spPr>
          <a:xfrm>
            <a:off x="6807521" y="5654744"/>
            <a:ext cx="2286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dirty="0">
                <a:solidFill>
                  <a:srgbClr val="9E988C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다리 폭이 좁아</a:t>
            </a:r>
            <a:endParaRPr lang="en-US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  <a:p>
            <a:pPr marL="0" indent="0" algn="l">
              <a:lnSpc>
                <a:spcPts val="1800"/>
              </a:lnSpc>
              <a:buNone/>
            </a:pPr>
            <a:r>
              <a:rPr lang="en-US" dirty="0">
                <a:solidFill>
                  <a:srgbClr val="9E988C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TV장 위 공간 활용 자유</a:t>
            </a:r>
            <a:endParaRPr lang="en-US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52" name="Text 47"/>
          <p:cNvSpPr txBox="1"/>
          <p:nvPr/>
        </p:nvSpPr>
        <p:spPr>
          <a:xfrm>
            <a:off x="6762445" y="7411650"/>
            <a:ext cx="2286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189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양쪽 2발 스탠드</a:t>
            </a:r>
            <a:endParaRPr lang="en-US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53" name="Text 48"/>
          <p:cNvSpPr txBox="1"/>
          <p:nvPr/>
        </p:nvSpPr>
        <p:spPr>
          <a:xfrm>
            <a:off x="6775230" y="7925091"/>
            <a:ext cx="2286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dirty="0">
                <a:solidFill>
                  <a:srgbClr val="9E988C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다리 간격이 TV장 폭 안에</a:t>
            </a:r>
            <a:endParaRPr lang="en-US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  <a:p>
            <a:pPr marL="0" indent="0" algn="l">
              <a:lnSpc>
                <a:spcPts val="1800"/>
              </a:lnSpc>
              <a:buNone/>
            </a:pPr>
            <a:r>
              <a:rPr lang="en-US" dirty="0">
                <a:solidFill>
                  <a:srgbClr val="9E988C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들어가는지 반드시 확인</a:t>
            </a:r>
            <a:endParaRPr lang="en-US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55" name="Text 50"/>
          <p:cNvSpPr txBox="1"/>
          <p:nvPr/>
        </p:nvSpPr>
        <p:spPr>
          <a:xfrm>
            <a:off x="1143000" y="9594787"/>
            <a:ext cx="14097305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21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스탠드 TV는 TV 크기뿐 아니라 </a:t>
            </a:r>
            <a:r>
              <a:rPr lang="en-US" sz="2100" b="1" kern="0" spc="-21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TV장과 셋톱박스까지 함께 설계</a:t>
            </a:r>
            <a:r>
              <a:rPr lang="en-US" sz="2100" b="1" kern="0" spc="-21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해야 합니다.</a:t>
            </a:r>
            <a:endParaRPr lang="en-US" sz="21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pic>
        <p:nvPicPr>
          <p:cNvPr id="3074" name="Picture 2" descr="발코니에 여유를 담아 감성적인 공간을 완성한 수지 원천마을 푸르지오 아파트 거실 인테리어">
            <a:extLst>
              <a:ext uri="{FF2B5EF4-FFF2-40B4-BE49-F238E27FC236}">
                <a16:creationId xmlns:a16="http://schemas.microsoft.com/office/drawing/2014/main" id="{B19093D2-7E33-46A6-BA09-A93586F0FF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73"/>
          <a:stretch/>
        </p:blipFill>
        <p:spPr bwMode="auto">
          <a:xfrm>
            <a:off x="12285045" y="4838731"/>
            <a:ext cx="5571819" cy="4378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CDA4B47A-D28C-40D5-89B9-0914FE58AC0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0564" t="10254" r="6478"/>
          <a:stretch/>
        </p:blipFill>
        <p:spPr>
          <a:xfrm>
            <a:off x="9333738" y="7490981"/>
            <a:ext cx="2055653" cy="1392355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4135361D-D80F-4A54-92E1-0D92CC721DD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494" t="4632" r="2714" b="3637"/>
          <a:stretch/>
        </p:blipFill>
        <p:spPr>
          <a:xfrm>
            <a:off x="9333738" y="5259827"/>
            <a:ext cx="2095748" cy="1559569"/>
          </a:xfrm>
          <a:prstGeom prst="rect">
            <a:avLst/>
          </a:prstGeom>
        </p:spPr>
      </p:pic>
      <p:sp>
        <p:nvSpPr>
          <p:cNvPr id="48" name="Text 43"/>
          <p:cNvSpPr txBox="1"/>
          <p:nvPr/>
        </p:nvSpPr>
        <p:spPr>
          <a:xfrm>
            <a:off x="1943100" y="8687164"/>
            <a:ext cx="3810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셋톱박스 위치</a:t>
            </a:r>
            <a:endParaRPr lang="en-US" sz="16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9" name="Text 44"/>
          <p:cNvSpPr txBox="1"/>
          <p:nvPr/>
        </p:nvSpPr>
        <p:spPr>
          <a:xfrm>
            <a:off x="1943100" y="9030064"/>
            <a:ext cx="3810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5AFA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TV장 위 / 내부 배치</a:t>
            </a:r>
            <a:endParaRPr lang="en-US" sz="12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65" name="Shape 14">
            <a:extLst>
              <a:ext uri="{FF2B5EF4-FFF2-40B4-BE49-F238E27FC236}">
                <a16:creationId xmlns:a16="http://schemas.microsoft.com/office/drawing/2014/main" id="{6782C087-A5EB-45F9-BF01-BCC437237E25}"/>
              </a:ext>
            </a:extLst>
          </p:cNvPr>
          <p:cNvSpPr/>
          <p:nvPr/>
        </p:nvSpPr>
        <p:spPr>
          <a:xfrm>
            <a:off x="1475358" y="7849902"/>
            <a:ext cx="342900" cy="34290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1457351" y="7854690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-13" dirty="0">
                <a:solidFill>
                  <a:srgbClr val="FFFFFF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4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66" name="Shape 14">
            <a:extLst>
              <a:ext uri="{FF2B5EF4-FFF2-40B4-BE49-F238E27FC236}">
                <a16:creationId xmlns:a16="http://schemas.microsoft.com/office/drawing/2014/main" id="{794976FA-38D7-4179-9BA5-C3CACB9DF70E}"/>
              </a:ext>
            </a:extLst>
          </p:cNvPr>
          <p:cNvSpPr/>
          <p:nvPr/>
        </p:nvSpPr>
        <p:spPr>
          <a:xfrm>
            <a:off x="1478584" y="8730703"/>
            <a:ext cx="342900" cy="34290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Text 22">
            <a:extLst>
              <a:ext uri="{FF2B5EF4-FFF2-40B4-BE49-F238E27FC236}">
                <a16:creationId xmlns:a16="http://schemas.microsoft.com/office/drawing/2014/main" id="{82AF3587-3CCE-49E2-B133-3F701DBC76FB}"/>
              </a:ext>
            </a:extLst>
          </p:cNvPr>
          <p:cNvSpPr txBox="1"/>
          <p:nvPr/>
        </p:nvSpPr>
        <p:spPr>
          <a:xfrm>
            <a:off x="1492058" y="8748480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-13" dirty="0">
                <a:solidFill>
                  <a:srgbClr val="FFFFFF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</a:rPr>
              <a:t>5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fd577a1a8bd1a83f01ff41637a147eb7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1143000" y="761695"/>
            <a:ext cx="571500" cy="1920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2999" y="4324198"/>
            <a:ext cx="3927765" cy="3771900"/>
          </a:xfrm>
          <a:prstGeom prst="roundRect">
            <a:avLst>
              <a:gd name="adj" fmla="val 6300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pic>
        <p:nvPicPr>
          <p:cNvPr id="7" name="Image 1" descr="gen-dedup-0ba1d731ecfc64e393588cb093b684a7.png"/>
          <p:cNvPicPr>
            <a:picLocks noChangeAspect="1"/>
          </p:cNvPicPr>
          <p:nvPr/>
        </p:nvPicPr>
        <p:blipFill>
          <a:blip r:embed="rId4"/>
          <a:srcRect l="-3" r="-3"/>
          <a:stretch/>
        </p:blipFill>
        <p:spPr>
          <a:xfrm>
            <a:off x="1213109" y="8429854"/>
            <a:ext cx="3857656" cy="128656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286289" y="8429854"/>
            <a:ext cx="12191695" cy="1286560"/>
          </a:xfrm>
          <a:prstGeom prst="roundRect">
            <a:avLst>
              <a:gd name="adj" fmla="val 2724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pic>
        <p:nvPicPr>
          <p:cNvPr id="17" name="Image 3" descr="gen-dedup-daccea4c2fc1e94eb25c595be1d62617.png"/>
          <p:cNvPicPr>
            <a:picLocks noChangeAspect="1"/>
          </p:cNvPicPr>
          <p:nvPr/>
        </p:nvPicPr>
        <p:blipFill>
          <a:blip r:embed="rId5"/>
          <a:srcRect l="-389" r="-389"/>
          <a:stretch/>
        </p:blipFill>
        <p:spPr>
          <a:xfrm>
            <a:off x="5286289" y="8429854"/>
            <a:ext cx="57607" cy="1286560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1143000" y="914400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kern="0" spc="243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STEP 3-2 </a:t>
            </a:r>
            <a:r>
              <a:rPr lang="en-US" sz="1350" b="1" kern="0" spc="243" dirty="0">
                <a:solidFill>
                  <a:srgbClr val="B5AFA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/ 이젤형 거치대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3" name="Text 14"/>
          <p:cNvSpPr txBox="1"/>
          <p:nvPr/>
        </p:nvSpPr>
        <p:spPr>
          <a:xfrm>
            <a:off x="1143000" y="1524305"/>
            <a:ext cx="14097305" cy="648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kern="0" spc="-81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이젤형 TV는</a:t>
            </a:r>
            <a:endParaRPr lang="en-US" sz="48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4" name="Text 15"/>
          <p:cNvSpPr txBox="1"/>
          <p:nvPr/>
        </p:nvSpPr>
        <p:spPr>
          <a:xfrm>
            <a:off x="1143000" y="2331833"/>
            <a:ext cx="14097305" cy="648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81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디자인과 구조를 함께 봅니다</a:t>
            </a:r>
            <a:endParaRPr lang="en-US" sz="48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5" name="Text 16"/>
          <p:cNvSpPr txBox="1"/>
          <p:nvPr/>
        </p:nvSpPr>
        <p:spPr>
          <a:xfrm>
            <a:off x="1143000" y="3143707"/>
            <a:ext cx="12192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3A3A38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이젤형은 LG TV 기본 구성품이 아닌 </a:t>
            </a:r>
            <a:r>
              <a:rPr lang="en-US" sz="24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별도 거치대</a:t>
            </a:r>
            <a:r>
              <a:rPr lang="en-US" sz="2400" dirty="0">
                <a:solidFill>
                  <a:srgbClr val="3A3A38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를 선택해 설치하는 방식입니다.</a:t>
            </a:r>
            <a:endParaRPr lang="en-US" sz="24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6" name="Text 17"/>
          <p:cNvSpPr txBox="1"/>
          <p:nvPr/>
        </p:nvSpPr>
        <p:spPr>
          <a:xfrm>
            <a:off x="1143000" y="3847795"/>
            <a:ext cx="5143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kern="0" spc="243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거치대 구조 4종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7" name="Text 18"/>
          <p:cNvSpPr txBox="1"/>
          <p:nvPr/>
        </p:nvSpPr>
        <p:spPr>
          <a:xfrm>
            <a:off x="1447495" y="4496105"/>
            <a:ext cx="19056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이동형</a:t>
            </a:r>
            <a:endParaRPr lang="en-US" sz="24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8" name="Text 19"/>
          <p:cNvSpPr txBox="1"/>
          <p:nvPr/>
        </p:nvSpPr>
        <p:spPr>
          <a:xfrm>
            <a:off x="1447495" y="4945054"/>
            <a:ext cx="190561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바퀴 이동 · 하중 주의</a:t>
            </a:r>
            <a:endParaRPr lang="en-US" sz="14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5" name="Text 26"/>
          <p:cNvSpPr txBox="1"/>
          <p:nvPr/>
        </p:nvSpPr>
        <p:spPr>
          <a:xfrm>
            <a:off x="1482208" y="8545928"/>
            <a:ext cx="3480383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45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이동형 주의</a:t>
            </a:r>
            <a:endParaRPr lang="en-US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6" name="Text 27"/>
          <p:cNvSpPr txBox="1"/>
          <p:nvPr/>
        </p:nvSpPr>
        <p:spPr>
          <a:xfrm>
            <a:off x="1517603" y="8992210"/>
            <a:ext cx="3480383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3A3A38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이동 편의성은 있지만,</a:t>
            </a:r>
            <a:endParaRPr lang="en-US" sz="14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3A3A38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대형 TV에서는 </a:t>
            </a:r>
            <a:r>
              <a:rPr lang="en-US" sz="14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구조적 안정성</a:t>
            </a:r>
            <a:r>
              <a:rPr lang="en-US" sz="1400" dirty="0">
                <a:solidFill>
                  <a:srgbClr val="3A3A38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과 하중을 </a:t>
            </a:r>
            <a:r>
              <a:rPr lang="en-US" sz="1400" dirty="0" err="1">
                <a:solidFill>
                  <a:srgbClr val="3A3A38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먼저</a:t>
            </a:r>
            <a:r>
              <a:rPr lang="en-US" sz="1400" dirty="0">
                <a:solidFill>
                  <a:srgbClr val="3A3A38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 </a:t>
            </a:r>
            <a:r>
              <a:rPr lang="en-US" sz="1400" dirty="0" err="1">
                <a:solidFill>
                  <a:srgbClr val="3A3A38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확인</a:t>
            </a:r>
            <a:endParaRPr lang="en-US" sz="14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56" name="Text 47"/>
          <p:cNvSpPr txBox="1"/>
          <p:nvPr/>
        </p:nvSpPr>
        <p:spPr>
          <a:xfrm>
            <a:off x="5667594" y="8487461"/>
            <a:ext cx="112398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kern="0" spc="243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CORE MESSAGE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57" name="Text 48"/>
          <p:cNvSpPr txBox="1"/>
          <p:nvPr/>
        </p:nvSpPr>
        <p:spPr>
          <a:xfrm>
            <a:off x="5725201" y="8750646"/>
            <a:ext cx="1123980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이젤형은 디자인만 보고 선택하지 않습니다.</a:t>
            </a:r>
            <a:endParaRPr lang="en-US" sz="22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58" name="Text 49"/>
          <p:cNvSpPr txBox="1"/>
          <p:nvPr/>
        </p:nvSpPr>
        <p:spPr>
          <a:xfrm>
            <a:off x="5667594" y="9316928"/>
            <a:ext cx="112398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kern="0" spc="99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이동성 </a:t>
            </a:r>
            <a:r>
              <a:rPr lang="en-US" sz="1650" kern="0" spc="99" dirty="0">
                <a:solidFill>
                  <a:srgbClr val="D5CFC2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→</a:t>
            </a:r>
            <a:r>
              <a:rPr lang="en-US" sz="1650" kern="0" spc="99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 구조 </a:t>
            </a:r>
            <a:r>
              <a:rPr lang="en-US" sz="1650" kern="0" spc="99" dirty="0">
                <a:solidFill>
                  <a:srgbClr val="D5CFC2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→</a:t>
            </a:r>
            <a:r>
              <a:rPr lang="en-US" sz="1650" kern="0" spc="99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 TV 크기·하중 </a:t>
            </a:r>
            <a:r>
              <a:rPr lang="en-US" sz="1650" kern="0" spc="99" dirty="0">
                <a:solidFill>
                  <a:srgbClr val="D5CFC2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→</a:t>
            </a:r>
            <a:r>
              <a:rPr lang="en-US" sz="1650" kern="0" spc="99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 설치 위치 </a:t>
            </a:r>
            <a:r>
              <a:rPr lang="en-US" sz="1650" kern="0" spc="99" dirty="0">
                <a:solidFill>
                  <a:srgbClr val="D5CFC2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→</a:t>
            </a:r>
            <a:r>
              <a:rPr lang="en-US" sz="1650" kern="0" spc="99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셋톱박스</a:t>
            </a:r>
            <a:endParaRPr lang="en-US" sz="16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77" name="Shape 0">
            <a:extLst>
              <a:ext uri="{FF2B5EF4-FFF2-40B4-BE49-F238E27FC236}">
                <a16:creationId xmlns:a16="http://schemas.microsoft.com/office/drawing/2014/main" id="{C4C65317-244F-46DC-A583-8826F26A28AB}"/>
              </a:ext>
            </a:extLst>
          </p:cNvPr>
          <p:cNvSpPr/>
          <p:nvPr/>
        </p:nvSpPr>
        <p:spPr>
          <a:xfrm>
            <a:off x="5223164" y="4324198"/>
            <a:ext cx="3927765" cy="3771900"/>
          </a:xfrm>
          <a:prstGeom prst="roundRect">
            <a:avLst>
              <a:gd name="adj" fmla="val 6300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78" name="Text 18">
            <a:extLst>
              <a:ext uri="{FF2B5EF4-FFF2-40B4-BE49-F238E27FC236}">
                <a16:creationId xmlns:a16="http://schemas.microsoft.com/office/drawing/2014/main" id="{0789F127-A2B8-4785-96BD-0A72D01E9707}"/>
              </a:ext>
            </a:extLst>
          </p:cNvPr>
          <p:cNvSpPr txBox="1"/>
          <p:nvPr/>
        </p:nvSpPr>
        <p:spPr>
          <a:xfrm>
            <a:off x="5527660" y="4496105"/>
            <a:ext cx="19056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</a:rPr>
              <a:t>1</a:t>
            </a:r>
            <a:r>
              <a:rPr lang="ko-KR" altLang="en-US" sz="24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</a:rPr>
              <a:t>각 구조</a:t>
            </a:r>
            <a:endParaRPr lang="en-US" sz="24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79" name="Text 19">
            <a:extLst>
              <a:ext uri="{FF2B5EF4-FFF2-40B4-BE49-F238E27FC236}">
                <a16:creationId xmlns:a16="http://schemas.microsoft.com/office/drawing/2014/main" id="{DE89CF12-A19D-49B5-86CD-7ED86E0F5C91}"/>
              </a:ext>
            </a:extLst>
          </p:cNvPr>
          <p:cNvSpPr txBox="1"/>
          <p:nvPr/>
        </p:nvSpPr>
        <p:spPr>
          <a:xfrm>
            <a:off x="5607322" y="4889848"/>
            <a:ext cx="2362506" cy="305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</a:rPr>
              <a:t>중앙 한 다리 지지</a:t>
            </a:r>
            <a:endParaRPr lang="en-US" sz="14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80" name="Shape 0">
            <a:extLst>
              <a:ext uri="{FF2B5EF4-FFF2-40B4-BE49-F238E27FC236}">
                <a16:creationId xmlns:a16="http://schemas.microsoft.com/office/drawing/2014/main" id="{F043D9D0-C093-4B04-A82D-BD024A4694C6}"/>
              </a:ext>
            </a:extLst>
          </p:cNvPr>
          <p:cNvSpPr/>
          <p:nvPr/>
        </p:nvSpPr>
        <p:spPr>
          <a:xfrm>
            <a:off x="9303329" y="4321992"/>
            <a:ext cx="3927765" cy="3771900"/>
          </a:xfrm>
          <a:prstGeom prst="roundRect">
            <a:avLst>
              <a:gd name="adj" fmla="val 6300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81" name="Text 18">
            <a:extLst>
              <a:ext uri="{FF2B5EF4-FFF2-40B4-BE49-F238E27FC236}">
                <a16:creationId xmlns:a16="http://schemas.microsoft.com/office/drawing/2014/main" id="{3207E5A8-18E6-471D-AECE-A71B8C10578E}"/>
              </a:ext>
            </a:extLst>
          </p:cNvPr>
          <p:cNvSpPr txBox="1"/>
          <p:nvPr/>
        </p:nvSpPr>
        <p:spPr>
          <a:xfrm>
            <a:off x="9607825" y="4493899"/>
            <a:ext cx="19056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ko-KR" altLang="en-US" sz="24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</a:rPr>
              <a:t>삼각 구조</a:t>
            </a:r>
            <a:endParaRPr lang="en-US" sz="24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82" name="Text 19">
            <a:extLst>
              <a:ext uri="{FF2B5EF4-FFF2-40B4-BE49-F238E27FC236}">
                <a16:creationId xmlns:a16="http://schemas.microsoft.com/office/drawing/2014/main" id="{840F9B4F-27B7-4068-8201-F59EFA9F0D97}"/>
              </a:ext>
            </a:extLst>
          </p:cNvPr>
          <p:cNvSpPr txBox="1"/>
          <p:nvPr/>
        </p:nvSpPr>
        <p:spPr>
          <a:xfrm>
            <a:off x="9607825" y="4942848"/>
            <a:ext cx="190561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</a:rPr>
              <a:t>현 위치 고정 형 지지</a:t>
            </a:r>
            <a:endParaRPr lang="en-US" sz="14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83" name="Shape 0">
            <a:extLst>
              <a:ext uri="{FF2B5EF4-FFF2-40B4-BE49-F238E27FC236}">
                <a16:creationId xmlns:a16="http://schemas.microsoft.com/office/drawing/2014/main" id="{AC3CA1D0-0700-411F-9255-52E442E29679}"/>
              </a:ext>
            </a:extLst>
          </p:cNvPr>
          <p:cNvSpPr/>
          <p:nvPr/>
        </p:nvSpPr>
        <p:spPr>
          <a:xfrm>
            <a:off x="13383494" y="4321992"/>
            <a:ext cx="3927765" cy="3771900"/>
          </a:xfrm>
          <a:prstGeom prst="roundRect">
            <a:avLst>
              <a:gd name="adj" fmla="val 6300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84" name="Text 18">
            <a:extLst>
              <a:ext uri="{FF2B5EF4-FFF2-40B4-BE49-F238E27FC236}">
                <a16:creationId xmlns:a16="http://schemas.microsoft.com/office/drawing/2014/main" id="{3858A682-339D-48F0-97AF-74FC1E2621C9}"/>
              </a:ext>
            </a:extLst>
          </p:cNvPr>
          <p:cNvSpPr txBox="1"/>
          <p:nvPr/>
        </p:nvSpPr>
        <p:spPr>
          <a:xfrm>
            <a:off x="13687990" y="4493899"/>
            <a:ext cx="19056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ko-KR" altLang="en-US" sz="24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</a:rPr>
              <a:t>사각 구조</a:t>
            </a:r>
            <a:endParaRPr lang="en-US" sz="24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85" name="Text 19">
            <a:extLst>
              <a:ext uri="{FF2B5EF4-FFF2-40B4-BE49-F238E27FC236}">
                <a16:creationId xmlns:a16="http://schemas.microsoft.com/office/drawing/2014/main" id="{F4246E42-FD50-4106-B144-A473F6FD9568}"/>
              </a:ext>
            </a:extLst>
          </p:cNvPr>
          <p:cNvSpPr txBox="1"/>
          <p:nvPr/>
        </p:nvSpPr>
        <p:spPr>
          <a:xfrm>
            <a:off x="13687990" y="4942848"/>
            <a:ext cx="190561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다점 지지 </a:t>
            </a:r>
            <a:r>
              <a:rPr lang="en-US" sz="1400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· </a:t>
            </a:r>
            <a:r>
              <a:rPr lang="ko-KR" altLang="en-US" sz="1400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안정성 우세</a:t>
            </a:r>
            <a:endParaRPr lang="en-US" sz="14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pic>
        <p:nvPicPr>
          <p:cNvPr id="4098" name="Picture 2" descr="HYB 이동식TV거치대 스탠드 삼성 LG 호환 이동형TV 티비스탠드 CL1168W : 씨엘오몰">
            <a:extLst>
              <a:ext uri="{FF2B5EF4-FFF2-40B4-BE49-F238E27FC236}">
                <a16:creationId xmlns:a16="http://schemas.microsoft.com/office/drawing/2014/main" id="{C1228BC8-48C7-46CA-9762-973639EC3A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7602" y="5313121"/>
            <a:ext cx="3206798" cy="2650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이동형 티비거치대 티비스탠드 나무궁 삼성 55인치 고민끝에 너무 만족">
            <a:extLst>
              <a:ext uri="{FF2B5EF4-FFF2-40B4-BE49-F238E27FC236}">
                <a16:creationId xmlns:a16="http://schemas.microsoft.com/office/drawing/2014/main" id="{B7329360-13A7-4508-A7C8-4C5966AFC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6189" y="5315939"/>
            <a:ext cx="3201713" cy="2644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이젤형티비거치대 무빙 스마트 스탠드 티비 모니터 : 블루먼비">
            <a:extLst>
              <a:ext uri="{FF2B5EF4-FFF2-40B4-BE49-F238E27FC236}">
                <a16:creationId xmlns:a16="http://schemas.microsoft.com/office/drawing/2014/main" id="{F7C48B20-05C7-4B1B-87B3-AE69067158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05686" y="5195257"/>
            <a:ext cx="3201713" cy="2666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0" name="Picture 14" descr="인테리어 이젤형 TV스탠드 거실 침실 원목디자인 티비 삼각거치대 : theHAGI">
            <a:extLst>
              <a:ext uri="{FF2B5EF4-FFF2-40B4-BE49-F238E27FC236}">
                <a16:creationId xmlns:a16="http://schemas.microsoft.com/office/drawing/2014/main" id="{27138222-71E2-4E2A-BA9F-5AED4F9E60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0691" y="5307186"/>
            <a:ext cx="3153610" cy="2653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3">
            <a:extLst>
              <a:ext uri="{FF2B5EF4-FFF2-40B4-BE49-F238E27FC236}">
                <a16:creationId xmlns:a16="http://schemas.microsoft.com/office/drawing/2014/main" id="{045691F3-AF5A-4F70-8B1D-BA6B1E6247B6}"/>
              </a:ext>
            </a:extLst>
          </p:cNvPr>
          <p:cNvSpPr/>
          <p:nvPr/>
        </p:nvSpPr>
        <p:spPr>
          <a:xfrm>
            <a:off x="1142999" y="6636171"/>
            <a:ext cx="6401715" cy="2355124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53" name="Shape 3">
            <a:extLst>
              <a:ext uri="{FF2B5EF4-FFF2-40B4-BE49-F238E27FC236}">
                <a16:creationId xmlns:a16="http://schemas.microsoft.com/office/drawing/2014/main" id="{3ED53BE6-5E75-48CD-9AAB-16A5B84E686A}"/>
              </a:ext>
            </a:extLst>
          </p:cNvPr>
          <p:cNvSpPr/>
          <p:nvPr/>
        </p:nvSpPr>
        <p:spPr>
          <a:xfrm>
            <a:off x="8001000" y="5225205"/>
            <a:ext cx="2857500" cy="857707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pic>
        <p:nvPicPr>
          <p:cNvPr id="2" name="Image 0" descr="gen-dedup-fd577a1a8bd1a83f01ff41637a147eb7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1143000" y="761695"/>
            <a:ext cx="571500" cy="1920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239805" y="1284791"/>
            <a:ext cx="5905195" cy="5364726"/>
          </a:xfrm>
          <a:prstGeom prst="roundRect">
            <a:avLst>
              <a:gd name="adj" fmla="val 1779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43000" y="4172407"/>
            <a:ext cx="3238805" cy="857707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0" y="4172407"/>
            <a:ext cx="3238805" cy="857707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001000" y="4172407"/>
            <a:ext cx="2857500" cy="857707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43000" y="5181905"/>
            <a:ext cx="3238805" cy="857707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0" y="5181905"/>
            <a:ext cx="3238805" cy="857707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239805" y="6839711"/>
            <a:ext cx="5905195" cy="1086307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239805" y="8116213"/>
            <a:ext cx="5905195" cy="1410005"/>
          </a:xfrm>
          <a:prstGeom prst="roundRect">
            <a:avLst>
              <a:gd name="adj" fmla="val 4086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1430000" y="3600906"/>
            <a:ext cx="5524805" cy="2857500"/>
          </a:xfrm>
          <a:prstGeom prst="roundRect">
            <a:avLst>
              <a:gd name="adj" fmla="val 1344"/>
            </a:avLst>
          </a:prstGeom>
          <a:solidFill>
            <a:srgbClr val="EEEA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" name="Image 2" descr="gen-dedup-eae516ed5d409dfc8960c5ce1955f34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1524305"/>
            <a:ext cx="5524805" cy="4934101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11544300" y="7411211"/>
            <a:ext cx="1143000" cy="362102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D5CFC2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12801600" y="7411211"/>
            <a:ext cx="1143000" cy="362102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D5CFC2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14058900" y="7411211"/>
            <a:ext cx="1143000" cy="362102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D5CFC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15316200" y="7411211"/>
            <a:ext cx="1619402" cy="362102"/>
          </a:xfrm>
          <a:prstGeom prst="roundRect">
            <a:avLst>
              <a:gd name="adj" fmla="val 10606"/>
            </a:avLst>
          </a:prstGeom>
          <a:solidFill>
            <a:srgbClr val="1A1A1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3" descr="gen-dedup-c25d5bae5a9e89e3fd6d2ecb09481fe3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777545" y="9372600"/>
            <a:ext cx="8953805" cy="91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1544300" y="7411211"/>
            <a:ext cx="11430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콘크리트</a:t>
            </a:r>
            <a:endParaRPr lang="en-US" sz="12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2" name="Text 16"/>
          <p:cNvSpPr txBox="1"/>
          <p:nvPr/>
        </p:nvSpPr>
        <p:spPr>
          <a:xfrm>
            <a:off x="12801600" y="7411211"/>
            <a:ext cx="11430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석고보드</a:t>
            </a:r>
            <a:endParaRPr lang="en-US" sz="12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3" name="Text 17"/>
          <p:cNvSpPr txBox="1"/>
          <p:nvPr/>
        </p:nvSpPr>
        <p:spPr>
          <a:xfrm>
            <a:off x="14058900" y="7411211"/>
            <a:ext cx="11430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타일</a:t>
            </a:r>
            <a:endParaRPr lang="en-US" sz="12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4" name="Text 18"/>
          <p:cNvSpPr txBox="1"/>
          <p:nvPr/>
        </p:nvSpPr>
        <p:spPr>
          <a:xfrm>
            <a:off x="15316200" y="7411211"/>
            <a:ext cx="1619402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대리석 / 아트월</a:t>
            </a:r>
            <a:endParaRPr lang="en-US" sz="12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5" name="Text 19"/>
          <p:cNvSpPr txBox="1"/>
          <p:nvPr/>
        </p:nvSpPr>
        <p:spPr>
          <a:xfrm>
            <a:off x="1143000" y="914400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kern="0" spc="243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STEP 3-3 </a:t>
            </a:r>
            <a:r>
              <a:rPr lang="en-US" sz="1350" b="1" kern="0" spc="243" dirty="0">
                <a:solidFill>
                  <a:srgbClr val="B5AFA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/ 벽걸이 타공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7" name="Text 21"/>
          <p:cNvSpPr txBox="1"/>
          <p:nvPr/>
        </p:nvSpPr>
        <p:spPr>
          <a:xfrm>
            <a:off x="1143000" y="1524305"/>
            <a:ext cx="14097305" cy="648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kern="0" spc="-81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벽걸이는 TV보다</a:t>
            </a:r>
            <a:endParaRPr lang="en-US" sz="48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8" name="Text 22"/>
          <p:cNvSpPr txBox="1"/>
          <p:nvPr/>
        </p:nvSpPr>
        <p:spPr>
          <a:xfrm>
            <a:off x="1143000" y="2360980"/>
            <a:ext cx="14097305" cy="648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81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'벽'을 먼저 확인해야 합니다</a:t>
            </a:r>
            <a:endParaRPr lang="en-US" sz="48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9" name="Text 23"/>
          <p:cNvSpPr txBox="1"/>
          <p:nvPr/>
        </p:nvSpPr>
        <p:spPr>
          <a:xfrm>
            <a:off x="1143000" y="3657600"/>
            <a:ext cx="51435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kern="0" spc="243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CHECK POINT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0" name="Text 24"/>
          <p:cNvSpPr txBox="1"/>
          <p:nvPr/>
        </p:nvSpPr>
        <p:spPr>
          <a:xfrm>
            <a:off x="1143000" y="3924605"/>
            <a:ext cx="5143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여섯 가지를 함께 확인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1" name="Text 25"/>
          <p:cNvSpPr txBox="1"/>
          <p:nvPr/>
        </p:nvSpPr>
        <p:spPr>
          <a:xfrm>
            <a:off x="1410005" y="4419295"/>
            <a:ext cx="2667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① 벽면 재질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2" name="Text 26"/>
          <p:cNvSpPr txBox="1"/>
          <p:nvPr/>
        </p:nvSpPr>
        <p:spPr>
          <a:xfrm>
            <a:off x="1410005" y="4705502"/>
            <a:ext cx="26673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고정 가능 여부 핵심</a:t>
            </a:r>
            <a:endParaRPr lang="en-US" sz="15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3" name="Text 27"/>
          <p:cNvSpPr txBox="1"/>
          <p:nvPr/>
        </p:nvSpPr>
        <p:spPr>
          <a:xfrm>
            <a:off x="4839005" y="4419295"/>
            <a:ext cx="2667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② 타공 가능 여부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4" name="Text 28"/>
          <p:cNvSpPr txBox="1"/>
          <p:nvPr/>
        </p:nvSpPr>
        <p:spPr>
          <a:xfrm>
            <a:off x="4839005" y="4705502"/>
            <a:ext cx="26673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드릴·앵커 적용</a:t>
            </a:r>
            <a:endParaRPr lang="en-US" sz="15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5" name="Text 29"/>
          <p:cNvSpPr txBox="1"/>
          <p:nvPr/>
        </p:nvSpPr>
        <p:spPr>
          <a:xfrm>
            <a:off x="8229600" y="4419295"/>
            <a:ext cx="2286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③ TV 위치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6" name="Text 30"/>
          <p:cNvSpPr txBox="1"/>
          <p:nvPr/>
        </p:nvSpPr>
        <p:spPr>
          <a:xfrm>
            <a:off x="8229600" y="4705502"/>
            <a:ext cx="22860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중심 높이·각도</a:t>
            </a:r>
            <a:endParaRPr lang="en-US" sz="15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7" name="Text 31"/>
          <p:cNvSpPr txBox="1"/>
          <p:nvPr/>
        </p:nvSpPr>
        <p:spPr>
          <a:xfrm>
            <a:off x="1410005" y="5429707"/>
            <a:ext cx="2667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④ 콘센트 위치</a:t>
            </a:r>
            <a:endParaRPr lang="en-US" sz="1350" dirty="0">
              <a:solidFill>
                <a:srgbClr val="6E6A63"/>
              </a:solidFill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8" name="Text 32"/>
          <p:cNvSpPr txBox="1"/>
          <p:nvPr/>
        </p:nvSpPr>
        <p:spPr>
          <a:xfrm>
            <a:off x="1410005" y="5715000"/>
            <a:ext cx="26673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TV 뒤 가려짐 주의</a:t>
            </a:r>
            <a:endParaRPr lang="en-US" sz="15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9" name="Text 33"/>
          <p:cNvSpPr txBox="1"/>
          <p:nvPr/>
        </p:nvSpPr>
        <p:spPr>
          <a:xfrm>
            <a:off x="4839005" y="5429707"/>
            <a:ext cx="2667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⑤ 셋톱박스 위치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0" name="Text 34"/>
          <p:cNvSpPr txBox="1"/>
          <p:nvPr/>
        </p:nvSpPr>
        <p:spPr>
          <a:xfrm>
            <a:off x="4839005" y="5715000"/>
            <a:ext cx="26673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인접 / 별도 분리</a:t>
            </a:r>
            <a:endParaRPr lang="en-US" sz="15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1" name="Text 35"/>
          <p:cNvSpPr txBox="1"/>
          <p:nvPr/>
        </p:nvSpPr>
        <p:spPr>
          <a:xfrm>
            <a:off x="8229600" y="5429707"/>
            <a:ext cx="2286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⑥ 케이블 동선</a:t>
            </a:r>
            <a:endParaRPr lang="en-US" sz="1350" dirty="0">
              <a:solidFill>
                <a:srgbClr val="6E6A63"/>
              </a:solidFill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2" name="Text 36"/>
          <p:cNvSpPr txBox="1"/>
          <p:nvPr/>
        </p:nvSpPr>
        <p:spPr>
          <a:xfrm>
            <a:off x="8229600" y="5715000"/>
            <a:ext cx="22860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벽 내부 / 몰딩</a:t>
            </a:r>
            <a:endParaRPr lang="en-US" sz="15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3" name="Text 37"/>
          <p:cNvSpPr txBox="1"/>
          <p:nvPr/>
        </p:nvSpPr>
        <p:spPr>
          <a:xfrm>
            <a:off x="11544300" y="7029906"/>
            <a:ext cx="1905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kern="0" spc="243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벽면 재질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4" name="Text 38"/>
          <p:cNvSpPr txBox="1"/>
          <p:nvPr/>
        </p:nvSpPr>
        <p:spPr>
          <a:xfrm>
            <a:off x="11544300" y="8325611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kern="0" spc="243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시선 높이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5" name="Text 39"/>
          <p:cNvSpPr txBox="1"/>
          <p:nvPr/>
        </p:nvSpPr>
        <p:spPr>
          <a:xfrm>
            <a:off x="11544300" y="8669425"/>
            <a:ext cx="5334610" cy="684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벽걸이 설치 전 </a:t>
            </a:r>
            <a:r>
              <a:rPr lang="en-US" sz="1650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소파에서 바라보는 높이</a:t>
            </a:r>
            <a:r>
              <a:rPr lang="en-US" sz="165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와</a:t>
            </a:r>
            <a:endParaRPr lang="en-US" sz="16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TV 중심 위치</a:t>
            </a:r>
            <a:r>
              <a:rPr lang="en-US" sz="165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를 함께 결정합니다.</a:t>
            </a:r>
            <a:endParaRPr lang="en-US" sz="16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6" name="Text 40"/>
          <p:cNvSpPr txBox="1"/>
          <p:nvPr/>
        </p:nvSpPr>
        <p:spPr>
          <a:xfrm>
            <a:off x="1524305" y="6705295"/>
            <a:ext cx="89538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kern="0" spc="243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CORE MESSAGE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7" name="Text 41"/>
          <p:cNvSpPr txBox="1"/>
          <p:nvPr/>
        </p:nvSpPr>
        <p:spPr>
          <a:xfrm>
            <a:off x="1524304" y="7418070"/>
            <a:ext cx="8953805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50" dirty="0"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벽걸이는 TV를 다는 작업이 아니라</a:t>
            </a:r>
            <a:endParaRPr lang="en-US" sz="25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8" name="Text 42"/>
          <p:cNvSpPr txBox="1"/>
          <p:nvPr/>
        </p:nvSpPr>
        <p:spPr>
          <a:xfrm>
            <a:off x="1524305" y="8037576"/>
            <a:ext cx="8953805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벽 + 전원 + 케이블</a:t>
            </a:r>
            <a:r>
              <a:rPr lang="en-US" sz="2550" b="1" dirty="0"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까지 설계하는 작업입니다.</a:t>
            </a:r>
            <a:endParaRPr lang="en-US" sz="25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9" name="Text 43"/>
          <p:cNvSpPr txBox="1"/>
          <p:nvPr/>
        </p:nvSpPr>
        <p:spPr>
          <a:xfrm>
            <a:off x="777545" y="9486900"/>
            <a:ext cx="8953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B5AFA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벽 종류에 따라 브라켓·앵커의 종류와 시공 방식이 달라집니다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fd577a1a8bd1a83f01ff41637a147eb7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1143000" y="761695"/>
            <a:ext cx="571500" cy="1920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3238805"/>
            <a:ext cx="7429500" cy="3619195"/>
          </a:xfrm>
          <a:prstGeom prst="roundRect">
            <a:avLst>
              <a:gd name="adj" fmla="val 1592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143000" y="7524598"/>
            <a:ext cx="2286000" cy="761695"/>
          </a:xfrm>
          <a:prstGeom prst="roundRect">
            <a:avLst>
              <a:gd name="adj" fmla="val 7563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19195" y="7524598"/>
            <a:ext cx="2286000" cy="761695"/>
          </a:xfrm>
          <a:prstGeom prst="roundRect">
            <a:avLst>
              <a:gd name="adj" fmla="val 7563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096305" y="7524598"/>
            <a:ext cx="2286000" cy="761695"/>
          </a:xfrm>
          <a:prstGeom prst="roundRect">
            <a:avLst>
              <a:gd name="adj" fmla="val 7563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572500" y="7524598"/>
            <a:ext cx="2286000" cy="761695"/>
          </a:xfrm>
          <a:prstGeom prst="roundRect">
            <a:avLst>
              <a:gd name="adj" fmla="val 7563"/>
            </a:avLst>
          </a:prstGeom>
          <a:solidFill>
            <a:srgbClr val="1A1A1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048695" y="7524598"/>
            <a:ext cx="2286000" cy="761695"/>
          </a:xfrm>
          <a:prstGeom prst="roundRect">
            <a:avLst>
              <a:gd name="adj" fmla="val 7563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3525806" y="7524598"/>
            <a:ext cx="1714500" cy="761695"/>
          </a:xfrm>
          <a:prstGeom prst="roundRect">
            <a:avLst>
              <a:gd name="adj" fmla="val 7563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pic>
        <p:nvPicPr>
          <p:cNvPr id="11" name="Image 1" descr="gen-dedup-14775b3a23755e3cc688aed97afedb4b.png"/>
          <p:cNvPicPr>
            <a:picLocks noChangeAspect="1"/>
          </p:cNvPicPr>
          <p:nvPr/>
        </p:nvPicPr>
        <p:blipFill>
          <a:blip r:embed="rId4"/>
          <a:srcRect t="-15" b="-15"/>
          <a:stretch/>
        </p:blipFill>
        <p:spPr>
          <a:xfrm>
            <a:off x="1143000" y="8572500"/>
            <a:ext cx="14097305" cy="952805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333195" y="3429000"/>
            <a:ext cx="7048195" cy="3238805"/>
          </a:xfrm>
          <a:prstGeom prst="roundRect">
            <a:avLst>
              <a:gd name="adj" fmla="val 1186"/>
            </a:avLst>
          </a:prstGeom>
          <a:solidFill>
            <a:srgbClr val="EEEA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2" descr="gen-dedup-b2fd4311c9ad2ee00c592ccc53ca5ba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195" y="3429000"/>
            <a:ext cx="7048195" cy="323880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143000" y="914400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43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STEP 3-4 </a:t>
            </a:r>
            <a:r>
              <a:rPr lang="en-US" sz="1400" b="1" kern="0" spc="243" dirty="0">
                <a:solidFill>
                  <a:srgbClr val="B5AFA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/ 벽걸이 무타공</a:t>
            </a:r>
            <a:endParaRPr lang="en-US" sz="14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17" name="Text 12"/>
          <p:cNvSpPr txBox="1"/>
          <p:nvPr/>
        </p:nvSpPr>
        <p:spPr>
          <a:xfrm>
            <a:off x="1143000" y="1524305"/>
            <a:ext cx="14097305" cy="7434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kern="0" spc="-93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타공 없이 설치할 수 있을까?</a:t>
            </a:r>
            <a:endParaRPr lang="en-US" sz="48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18" name="Text 13"/>
          <p:cNvSpPr txBox="1"/>
          <p:nvPr/>
        </p:nvSpPr>
        <p:spPr>
          <a:xfrm>
            <a:off x="1143000" y="2553005"/>
            <a:ext cx="14097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3A3A38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무타공 설치는 </a:t>
            </a:r>
            <a:r>
              <a:rPr lang="en-US" sz="20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모든 공간</a:t>
            </a:r>
            <a:r>
              <a:rPr lang="en-US" sz="2000" dirty="0">
                <a:solidFill>
                  <a:srgbClr val="3A3A38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과 </a:t>
            </a:r>
            <a:r>
              <a:rPr lang="en-US" sz="20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모든 TV</a:t>
            </a:r>
            <a:r>
              <a:rPr lang="en-US" sz="2000" dirty="0">
                <a:solidFill>
                  <a:srgbClr val="3A3A38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에 동일하게 적용되는 것이 아닙니다.</a:t>
            </a:r>
            <a:endParaRPr lang="en-US" sz="20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19" name="Text 14"/>
          <p:cNvSpPr txBox="1"/>
          <p:nvPr/>
        </p:nvSpPr>
        <p:spPr>
          <a:xfrm>
            <a:off x="9334195" y="3619195"/>
            <a:ext cx="62865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kern="0" spc="243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MISCONCEPTION</a:t>
            </a:r>
            <a:endParaRPr lang="en-US" sz="14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0" name="Text 15"/>
          <p:cNvSpPr txBox="1"/>
          <p:nvPr/>
        </p:nvSpPr>
        <p:spPr>
          <a:xfrm>
            <a:off x="9334195" y="3981298"/>
            <a:ext cx="6286500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"무타공 =</a:t>
            </a:r>
            <a:endParaRPr lang="en-US" sz="32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1" name="Text 16"/>
          <p:cNvSpPr txBox="1"/>
          <p:nvPr/>
        </p:nvSpPr>
        <p:spPr>
          <a:xfrm>
            <a:off x="10858500" y="4000500"/>
            <a:ext cx="6286500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아무 벽에나 OK"</a:t>
            </a:r>
            <a:endParaRPr lang="en-US" sz="32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2" name="Text 17"/>
          <p:cNvSpPr txBox="1"/>
          <p:nvPr/>
        </p:nvSpPr>
        <p:spPr>
          <a:xfrm>
            <a:off x="9499326" y="4644562"/>
            <a:ext cx="6286500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가 아닙니다.</a:t>
            </a:r>
            <a:endParaRPr lang="en-US" sz="32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3" name="Text 18"/>
          <p:cNvSpPr txBox="1"/>
          <p:nvPr/>
        </p:nvSpPr>
        <p:spPr>
          <a:xfrm>
            <a:off x="9334195" y="6248095"/>
            <a:ext cx="62865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B5AFA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TV 크기, 벽 재질, 시공 방식에 따라</a:t>
            </a:r>
            <a:endParaRPr lang="en-US" sz="16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B5AFA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적용 가능 여부가 달라집니다.</a:t>
            </a:r>
            <a:endParaRPr lang="en-US" sz="16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1143000" y="7144207"/>
            <a:ext cx="51435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kern="0" spc="243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CHECK POINT</a:t>
            </a:r>
            <a:endParaRPr lang="en-US" sz="14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5" name="Text 20"/>
          <p:cNvSpPr txBox="1"/>
          <p:nvPr/>
        </p:nvSpPr>
        <p:spPr>
          <a:xfrm>
            <a:off x="1410005" y="7638898"/>
            <a:ext cx="1905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147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①</a:t>
            </a:r>
            <a:endParaRPr lang="en-US" sz="11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6" name="Text 21"/>
          <p:cNvSpPr txBox="1"/>
          <p:nvPr/>
        </p:nvSpPr>
        <p:spPr>
          <a:xfrm>
            <a:off x="1410005" y="7886700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벽면 구조</a:t>
            </a:r>
            <a:endParaRPr lang="en-US" sz="16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7" name="Text 22"/>
          <p:cNvSpPr txBox="1"/>
          <p:nvPr/>
        </p:nvSpPr>
        <p:spPr>
          <a:xfrm>
            <a:off x="3886200" y="7638898"/>
            <a:ext cx="1905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147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②</a:t>
            </a:r>
            <a:endParaRPr lang="en-US" sz="11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8" name="Text 23"/>
          <p:cNvSpPr txBox="1"/>
          <p:nvPr/>
        </p:nvSpPr>
        <p:spPr>
          <a:xfrm>
            <a:off x="3886200" y="7886700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벽 재질</a:t>
            </a:r>
            <a:endParaRPr lang="en-US" sz="16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9" name="Text 24"/>
          <p:cNvSpPr txBox="1"/>
          <p:nvPr/>
        </p:nvSpPr>
        <p:spPr>
          <a:xfrm>
            <a:off x="6362395" y="7638898"/>
            <a:ext cx="1905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147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③</a:t>
            </a:r>
            <a:endParaRPr lang="en-US" sz="11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0" name="Text 25"/>
          <p:cNvSpPr txBox="1"/>
          <p:nvPr/>
        </p:nvSpPr>
        <p:spPr>
          <a:xfrm>
            <a:off x="6362395" y="7886700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TV 크기·무게</a:t>
            </a:r>
            <a:endParaRPr lang="en-US" sz="16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1" name="Text 26"/>
          <p:cNvSpPr txBox="1"/>
          <p:nvPr/>
        </p:nvSpPr>
        <p:spPr>
          <a:xfrm>
            <a:off x="8839505" y="7638898"/>
            <a:ext cx="1905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147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④</a:t>
            </a:r>
            <a:endParaRPr lang="en-US" sz="11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2" name="Text 27"/>
          <p:cNvSpPr txBox="1"/>
          <p:nvPr/>
        </p:nvSpPr>
        <p:spPr>
          <a:xfrm>
            <a:off x="8839505" y="7886700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설치 방식</a:t>
            </a:r>
            <a:endParaRPr lang="en-US" sz="16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3" name="Text 28"/>
          <p:cNvSpPr txBox="1"/>
          <p:nvPr/>
        </p:nvSpPr>
        <p:spPr>
          <a:xfrm>
            <a:off x="11315700" y="7638898"/>
            <a:ext cx="1905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147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⑤</a:t>
            </a:r>
            <a:endParaRPr lang="en-US" sz="11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4" name="Text 29"/>
          <p:cNvSpPr txBox="1"/>
          <p:nvPr/>
        </p:nvSpPr>
        <p:spPr>
          <a:xfrm>
            <a:off x="11315700" y="7886700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콘센트 위치</a:t>
            </a:r>
            <a:endParaRPr lang="en-US" sz="16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5" name="Text 30"/>
          <p:cNvSpPr txBox="1"/>
          <p:nvPr/>
        </p:nvSpPr>
        <p:spPr>
          <a:xfrm>
            <a:off x="13791895" y="7638898"/>
            <a:ext cx="3238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147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⑥</a:t>
            </a:r>
            <a:endParaRPr lang="en-US" sz="11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6" name="Text 31"/>
          <p:cNvSpPr txBox="1"/>
          <p:nvPr/>
        </p:nvSpPr>
        <p:spPr>
          <a:xfrm>
            <a:off x="13791895" y="7886700"/>
            <a:ext cx="3238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케이블 동선</a:t>
            </a:r>
            <a:endParaRPr lang="en-US" sz="16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7" name="Text 32"/>
          <p:cNvSpPr txBox="1"/>
          <p:nvPr/>
        </p:nvSpPr>
        <p:spPr>
          <a:xfrm>
            <a:off x="1524305" y="8762695"/>
            <a:ext cx="1314450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kern="0" spc="-24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무타공 여부는 </a:t>
            </a:r>
            <a:r>
              <a:rPr lang="en-US" sz="2800" b="1" kern="0" spc="-24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TV 크기</a:t>
            </a:r>
            <a:r>
              <a:rPr lang="en-US" sz="2800" kern="0" spc="-24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와 </a:t>
            </a:r>
            <a:r>
              <a:rPr lang="en-US" sz="2800" b="1" kern="0" spc="-24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벽면 조건</a:t>
            </a:r>
            <a:r>
              <a:rPr lang="en-US" sz="2800" kern="0" spc="-24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을 함께 확인해야 합니다.</a:t>
            </a:r>
            <a:endParaRPr lang="en-US" sz="28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">
            <a:extLst>
              <a:ext uri="{FF2B5EF4-FFF2-40B4-BE49-F238E27FC236}">
                <a16:creationId xmlns:a16="http://schemas.microsoft.com/office/drawing/2014/main" id="{7CE3BF9A-F7B9-4FF8-A378-0CD6E251FB84}"/>
              </a:ext>
            </a:extLst>
          </p:cNvPr>
          <p:cNvSpPr/>
          <p:nvPr/>
        </p:nvSpPr>
        <p:spPr>
          <a:xfrm>
            <a:off x="9905695" y="4289612"/>
            <a:ext cx="7429500" cy="2111189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pic>
        <p:nvPicPr>
          <p:cNvPr id="2" name="Image 0" descr="gen-dedup-fd577a1a8bd1a83f01ff41637a147eb7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1143000" y="761695"/>
            <a:ext cx="571500" cy="1920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1" y="1524305"/>
            <a:ext cx="7824942" cy="7658100"/>
          </a:xfrm>
          <a:prstGeom prst="roundRect">
            <a:avLst>
              <a:gd name="adj" fmla="val 889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905695" y="6782105"/>
            <a:ext cx="7429500" cy="24003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pic>
        <p:nvPicPr>
          <p:cNvPr id="8" name="Image 2" descr="gen-dedup-72d4d1536644a9bad132a3e084b66da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9558" y="1714500"/>
            <a:ext cx="6734358" cy="3696005"/>
          </a:xfrm>
          <a:prstGeom prst="rect">
            <a:avLst/>
          </a:prstGeom>
        </p:spPr>
      </p:pic>
      <p:pic>
        <p:nvPicPr>
          <p:cNvPr id="9" name="Image 3" descr="gen-dedup-5f8744271c6ceaa2e00f2ae847aac1e4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0287000" y="8515807"/>
            <a:ext cx="6667805" cy="9144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143000" y="914400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kern="0" spc="243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STEP 4 </a:t>
            </a:r>
            <a:r>
              <a:rPr lang="en-US" sz="1350" b="1" kern="0" spc="243" dirty="0">
                <a:solidFill>
                  <a:srgbClr val="B5AFA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/ 반매립 설치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12" name="Text 6"/>
          <p:cNvSpPr txBox="1"/>
          <p:nvPr/>
        </p:nvSpPr>
        <p:spPr>
          <a:xfrm>
            <a:off x="9905695" y="1524305"/>
            <a:ext cx="7429500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000" kern="0" spc="-63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요즘 많이 하는</a:t>
            </a:r>
            <a:endParaRPr lang="en-US" sz="40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13" name="Text 7"/>
          <p:cNvSpPr txBox="1"/>
          <p:nvPr/>
        </p:nvSpPr>
        <p:spPr>
          <a:xfrm>
            <a:off x="9905695" y="2115921"/>
            <a:ext cx="7429500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000" b="1" kern="0" spc="-63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반매립 TV,</a:t>
            </a:r>
            <a:endParaRPr lang="en-US" sz="40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14" name="Text 8"/>
          <p:cNvSpPr txBox="1"/>
          <p:nvPr/>
        </p:nvSpPr>
        <p:spPr>
          <a:xfrm>
            <a:off x="9905695" y="2742151"/>
            <a:ext cx="7429500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000" b="1" kern="0" spc="-63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TV부터 정하고</a:t>
            </a:r>
            <a:endParaRPr lang="en-US" sz="40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15" name="Text 9"/>
          <p:cNvSpPr txBox="1"/>
          <p:nvPr/>
        </p:nvSpPr>
        <p:spPr>
          <a:xfrm>
            <a:off x="9905695" y="3365959"/>
            <a:ext cx="7429500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000" b="1" kern="0" spc="-63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벽을 만들어야 합니다</a:t>
            </a:r>
            <a:endParaRPr lang="en-US" sz="40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16" name="Text 10"/>
          <p:cNvSpPr txBox="1"/>
          <p:nvPr/>
        </p:nvSpPr>
        <p:spPr>
          <a:xfrm>
            <a:off x="10287000" y="4552798"/>
            <a:ext cx="66678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kern="0" spc="243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CORE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17" name="Text 11"/>
          <p:cNvSpPr txBox="1"/>
          <p:nvPr/>
        </p:nvSpPr>
        <p:spPr>
          <a:xfrm>
            <a:off x="10287000" y="4934102"/>
            <a:ext cx="6667805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dirty="0"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반매립 TV 벽을 먼저 만들기 전에</a:t>
            </a:r>
            <a:endParaRPr lang="en-US" sz="19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18" name="Text 12"/>
          <p:cNvSpPr txBox="1"/>
          <p:nvPr/>
        </p:nvSpPr>
        <p:spPr>
          <a:xfrm>
            <a:off x="10287000" y="5410505"/>
            <a:ext cx="6667805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설치할 </a:t>
            </a:r>
            <a:r>
              <a:rPr lang="en-US" sz="1950" b="1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TV 모델</a:t>
            </a:r>
            <a:r>
              <a:rPr lang="en-US" sz="1950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을 </a:t>
            </a:r>
            <a:r>
              <a:rPr lang="en-US" sz="1950" dirty="0"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먼저 결정하세요.</a:t>
            </a:r>
            <a:endParaRPr lang="en-US" sz="19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19" name="Text 13"/>
          <p:cNvSpPr txBox="1"/>
          <p:nvPr/>
        </p:nvSpPr>
        <p:spPr>
          <a:xfrm>
            <a:off x="10287000" y="7029907"/>
            <a:ext cx="66678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kern="0" spc="243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WHY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0" name="Text 14"/>
          <p:cNvSpPr txBox="1"/>
          <p:nvPr/>
        </p:nvSpPr>
        <p:spPr>
          <a:xfrm>
            <a:off x="10287000" y="7372807"/>
            <a:ext cx="6667805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같은 </a:t>
            </a:r>
            <a:r>
              <a:rPr lang="en-US" sz="1800" b="1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65형</a:t>
            </a:r>
            <a:r>
              <a:rPr lang="en-US" sz="18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이라도</a:t>
            </a:r>
            <a:endParaRPr lang="en-US" sz="18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1" name="Text 15"/>
          <p:cNvSpPr txBox="1"/>
          <p:nvPr/>
        </p:nvSpPr>
        <p:spPr>
          <a:xfrm>
            <a:off x="10287000" y="7753198"/>
            <a:ext cx="6667805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TV 모델에 따라 </a:t>
            </a:r>
            <a:r>
              <a:rPr lang="en-US" sz="1800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후면 구조</a:t>
            </a:r>
            <a:r>
              <a:rPr lang="en-US" sz="18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가 다를 수 있습니다.</a:t>
            </a:r>
            <a:endParaRPr lang="en-US" sz="18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2" name="Text 16"/>
          <p:cNvSpPr txBox="1"/>
          <p:nvPr/>
        </p:nvSpPr>
        <p:spPr>
          <a:xfrm>
            <a:off x="10287000" y="8630107"/>
            <a:ext cx="6667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→ STEP 4-1에서 65형 두 모델의 후면 차이를 함께 봅니다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pic>
        <p:nvPicPr>
          <p:cNvPr id="6146" name="Picture 2" descr="반매립 티비 시공">
            <a:extLst>
              <a:ext uri="{FF2B5EF4-FFF2-40B4-BE49-F238E27FC236}">
                <a16:creationId xmlns:a16="http://schemas.microsoft.com/office/drawing/2014/main" id="{9702E0E2-3D06-4BF6-B492-E03FDC5C1E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9558" y="5655737"/>
            <a:ext cx="6734358" cy="3222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0">
            <a:extLst>
              <a:ext uri="{FF2B5EF4-FFF2-40B4-BE49-F238E27FC236}">
                <a16:creationId xmlns:a16="http://schemas.microsoft.com/office/drawing/2014/main" id="{BCF01CAB-2E43-4C2F-B212-46481F56E48C}"/>
              </a:ext>
            </a:extLst>
          </p:cNvPr>
          <p:cNvSpPr/>
          <p:nvPr/>
        </p:nvSpPr>
        <p:spPr>
          <a:xfrm>
            <a:off x="9219895" y="3047695"/>
            <a:ext cx="7810805" cy="4572000"/>
          </a:xfrm>
          <a:prstGeom prst="roundRect">
            <a:avLst>
              <a:gd name="adj" fmla="val 1260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pic>
        <p:nvPicPr>
          <p:cNvPr id="62" name="Image 1" descr="gen-dedup-07046030ed688c73b14b92a28974b192.png">
            <a:extLst>
              <a:ext uri="{FF2B5EF4-FFF2-40B4-BE49-F238E27FC236}">
                <a16:creationId xmlns:a16="http://schemas.microsoft.com/office/drawing/2014/main" id="{78598212-02D5-49C4-B6C0-AE40C4DFE1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" r="-2"/>
          <a:stretch/>
        </p:blipFill>
        <p:spPr>
          <a:xfrm>
            <a:off x="9334652" y="3063052"/>
            <a:ext cx="7810805" cy="571500"/>
          </a:xfrm>
          <a:prstGeom prst="rect">
            <a:avLst/>
          </a:prstGeom>
        </p:spPr>
      </p:pic>
      <p:sp>
        <p:nvSpPr>
          <p:cNvPr id="61" name="Shape 5">
            <a:extLst>
              <a:ext uri="{FF2B5EF4-FFF2-40B4-BE49-F238E27FC236}">
                <a16:creationId xmlns:a16="http://schemas.microsoft.com/office/drawing/2014/main" id="{298798B1-133B-453B-A9C4-FC38D35C47F6}"/>
              </a:ext>
            </a:extLst>
          </p:cNvPr>
          <p:cNvSpPr/>
          <p:nvPr/>
        </p:nvSpPr>
        <p:spPr>
          <a:xfrm>
            <a:off x="7563002" y="8238744"/>
            <a:ext cx="2964134" cy="8001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pic>
        <p:nvPicPr>
          <p:cNvPr id="2" name="Image 0" descr="gen-dedup-fd577a1a8bd1a83f01ff41637a147eb7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1143000" y="761695"/>
            <a:ext cx="571500" cy="1920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3047695"/>
            <a:ext cx="7810805" cy="4572000"/>
          </a:xfrm>
          <a:prstGeom prst="roundRect">
            <a:avLst>
              <a:gd name="adj" fmla="val 1260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143000" y="8248802"/>
            <a:ext cx="3238805" cy="8001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0" y="8248802"/>
            <a:ext cx="2857500" cy="8001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668305" y="8248802"/>
            <a:ext cx="3238805" cy="8001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4097305" y="8248802"/>
            <a:ext cx="3047695" cy="8001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pic>
        <p:nvPicPr>
          <p:cNvPr id="10" name="Image 1" descr="gen-dedup-07046030ed688c73b14b92a28974b192.png"/>
          <p:cNvPicPr>
            <a:picLocks noChangeAspect="1"/>
          </p:cNvPicPr>
          <p:nvPr/>
        </p:nvPicPr>
        <p:blipFill>
          <a:blip r:embed="rId3"/>
          <a:srcRect l="-2" r="-2"/>
          <a:stretch/>
        </p:blipFill>
        <p:spPr>
          <a:xfrm>
            <a:off x="1143000" y="3047695"/>
            <a:ext cx="7810805" cy="571500"/>
          </a:xfrm>
          <a:prstGeom prst="rect">
            <a:avLst/>
          </a:prstGeom>
        </p:spPr>
      </p:pic>
      <p:pic>
        <p:nvPicPr>
          <p:cNvPr id="14" name="Image 3" descr="gen-dedup-97bc938158d2964e06679b13f418a34a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524305" y="5333695"/>
            <a:ext cx="1143000" cy="9144"/>
          </a:xfrm>
          <a:prstGeom prst="rect">
            <a:avLst/>
          </a:prstGeom>
        </p:spPr>
      </p:pic>
      <p:pic>
        <p:nvPicPr>
          <p:cNvPr id="17" name="Image 6" descr="gen-dedup-e4a98b91c83b2307ee7a6edf429bd236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9715500" y="5333695"/>
            <a:ext cx="1143000" cy="9144"/>
          </a:xfrm>
          <a:prstGeom prst="rect">
            <a:avLst/>
          </a:prstGeom>
        </p:spPr>
      </p:pic>
      <p:sp>
        <p:nvSpPr>
          <p:cNvPr id="29" name="Text 15"/>
          <p:cNvSpPr txBox="1"/>
          <p:nvPr/>
        </p:nvSpPr>
        <p:spPr>
          <a:xfrm>
            <a:off x="1143000" y="914400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kern="0" spc="243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STEP 4-1 </a:t>
            </a:r>
            <a:r>
              <a:rPr lang="en-US" sz="1350" b="1" kern="0" spc="243" dirty="0">
                <a:solidFill>
                  <a:srgbClr val="B5AFA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/ 같은 65형, 다른 후면 구조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1" name="Text 17"/>
          <p:cNvSpPr txBox="1"/>
          <p:nvPr/>
        </p:nvSpPr>
        <p:spPr>
          <a:xfrm>
            <a:off x="1143000" y="1524305"/>
            <a:ext cx="14097305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750" kern="0" spc="-75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같은 65형,</a:t>
            </a:r>
            <a:endParaRPr lang="en-US" sz="37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2" name="Text 18"/>
          <p:cNvSpPr txBox="1"/>
          <p:nvPr/>
        </p:nvSpPr>
        <p:spPr>
          <a:xfrm>
            <a:off x="1143000" y="2133295"/>
            <a:ext cx="14097305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750" b="1" kern="0" spc="-75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다른 후면 구조</a:t>
            </a:r>
            <a:endParaRPr lang="en-US" sz="37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3" name="Text 19"/>
          <p:cNvSpPr txBox="1"/>
          <p:nvPr/>
        </p:nvSpPr>
        <p:spPr>
          <a:xfrm>
            <a:off x="1524305" y="3238805"/>
            <a:ext cx="3238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243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A. 후면이 평평한 형태</a:t>
            </a:r>
            <a:endParaRPr lang="en-US" sz="28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4" name="Text 20"/>
          <p:cNvSpPr txBox="1"/>
          <p:nvPr/>
        </p:nvSpPr>
        <p:spPr>
          <a:xfrm>
            <a:off x="7429500" y="3276295"/>
            <a:ext cx="1334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100" kern="0" spc="59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SIDE VIEW</a:t>
            </a:r>
            <a:endParaRPr lang="en-US" sz="11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5" name="Text 21"/>
          <p:cNvSpPr txBox="1"/>
          <p:nvPr/>
        </p:nvSpPr>
        <p:spPr>
          <a:xfrm>
            <a:off x="1524305" y="4038905"/>
            <a:ext cx="2667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54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구조 특징</a:t>
            </a:r>
            <a:endParaRPr lang="en-US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6" name="Text 22"/>
          <p:cNvSpPr txBox="1"/>
          <p:nvPr/>
        </p:nvSpPr>
        <p:spPr>
          <a:xfrm>
            <a:off x="1524305" y="4345229"/>
            <a:ext cx="2667305" cy="684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화면 뒤 구조가</a:t>
            </a:r>
            <a:endParaRPr lang="en-US" sz="24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  <a:p>
            <a:pPr marL="0" indent="0" algn="l">
              <a:lnSpc>
                <a:spcPts val="255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비교적 평평</a:t>
            </a:r>
            <a:endParaRPr lang="en-US" sz="24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7" name="Text 23"/>
          <p:cNvSpPr txBox="1"/>
          <p:nvPr/>
        </p:nvSpPr>
        <p:spPr>
          <a:xfrm>
            <a:off x="1524305" y="5562295"/>
            <a:ext cx="2667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54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공간 계획</a:t>
            </a:r>
            <a:endParaRPr lang="en-US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8" name="Text 24"/>
          <p:cNvSpPr txBox="1"/>
          <p:nvPr/>
        </p:nvSpPr>
        <p:spPr>
          <a:xfrm>
            <a:off x="1524305" y="5868619"/>
            <a:ext cx="2667305" cy="684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전체 후면 공간을</a:t>
            </a:r>
            <a:endParaRPr lang="en-US" sz="24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  <a:p>
            <a:pPr marL="0" indent="0" algn="l">
              <a:lnSpc>
                <a:spcPts val="255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기준으로 계획</a:t>
            </a:r>
            <a:endParaRPr lang="en-US" sz="24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9" name="Text 25"/>
          <p:cNvSpPr txBox="1"/>
          <p:nvPr/>
        </p:nvSpPr>
        <p:spPr>
          <a:xfrm>
            <a:off x="1524305" y="6896405"/>
            <a:ext cx="7049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벽 ↔ TV 사이 일정 거리 확보 — 반매립 박스 깊이 동일하게 계획 가능</a:t>
            </a:r>
            <a:endParaRPr lang="en-US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0" name="Text 26"/>
          <p:cNvSpPr txBox="1"/>
          <p:nvPr/>
        </p:nvSpPr>
        <p:spPr>
          <a:xfrm>
            <a:off x="9715500" y="3238805"/>
            <a:ext cx="3238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243" dirty="0"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B. 하단 돌출형</a:t>
            </a:r>
            <a:endParaRPr lang="en-US" sz="28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1" name="Text 27"/>
          <p:cNvSpPr txBox="1"/>
          <p:nvPr/>
        </p:nvSpPr>
        <p:spPr>
          <a:xfrm>
            <a:off x="15430500" y="3276295"/>
            <a:ext cx="1334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100" kern="0" spc="59" dirty="0">
                <a:solidFill>
                  <a:srgbClr val="B5AFA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SIDE VIEW</a:t>
            </a:r>
            <a:endParaRPr lang="en-US" sz="11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2" name="Text 28"/>
          <p:cNvSpPr txBox="1"/>
          <p:nvPr/>
        </p:nvSpPr>
        <p:spPr>
          <a:xfrm>
            <a:off x="9715500" y="4038905"/>
            <a:ext cx="2667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54" dirty="0">
                <a:solidFill>
                  <a:srgbClr val="B5AFA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구조 특징</a:t>
            </a:r>
            <a:endParaRPr lang="en-US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3" name="Text 29"/>
          <p:cNvSpPr txBox="1"/>
          <p:nvPr/>
        </p:nvSpPr>
        <p:spPr>
          <a:xfrm>
            <a:off x="9715500" y="4381805"/>
            <a:ext cx="2667305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화면부는 얇지만</a:t>
            </a:r>
            <a:endParaRPr lang="en-US" sz="24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4" name="Text 30"/>
          <p:cNvSpPr txBox="1"/>
          <p:nvPr/>
        </p:nvSpPr>
        <p:spPr>
          <a:xfrm>
            <a:off x="9715500" y="4705502"/>
            <a:ext cx="2667305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하단이 돌출</a:t>
            </a:r>
            <a:endParaRPr lang="en-US" sz="24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5" name="Text 31"/>
          <p:cNvSpPr txBox="1"/>
          <p:nvPr/>
        </p:nvSpPr>
        <p:spPr>
          <a:xfrm>
            <a:off x="9715500" y="5562295"/>
            <a:ext cx="2667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54" dirty="0">
                <a:solidFill>
                  <a:srgbClr val="B5AFA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공간 계획</a:t>
            </a:r>
            <a:endParaRPr lang="en-US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6" name="Text 32"/>
          <p:cNvSpPr txBox="1"/>
          <p:nvPr/>
        </p:nvSpPr>
        <p:spPr>
          <a:xfrm>
            <a:off x="9715500" y="5868619"/>
            <a:ext cx="2667305" cy="684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400" dirty="0"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돌출부까지 고려해</a:t>
            </a:r>
            <a:endParaRPr lang="en-US" sz="24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  <a:p>
            <a:pPr marL="0" indent="0" algn="l">
              <a:lnSpc>
                <a:spcPts val="2550"/>
              </a:lnSpc>
              <a:buNone/>
            </a:pPr>
            <a:r>
              <a:rPr lang="en-US" sz="2400" dirty="0"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공간 깊이를 설계</a:t>
            </a:r>
            <a:endParaRPr lang="en-US" sz="24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8" name="Text 34"/>
          <p:cNvSpPr txBox="1"/>
          <p:nvPr/>
        </p:nvSpPr>
        <p:spPr>
          <a:xfrm>
            <a:off x="9715500" y="6896405"/>
            <a:ext cx="7049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9E988C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전자부 / 연결부가 후면으로 나와 있어, 반매립 깊이에 더 많은 여유가 필요합니다.</a:t>
            </a:r>
            <a:endParaRPr lang="en-US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9" name="Text 35"/>
          <p:cNvSpPr txBox="1"/>
          <p:nvPr/>
        </p:nvSpPr>
        <p:spPr>
          <a:xfrm>
            <a:off x="1143000" y="7905902"/>
            <a:ext cx="51435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243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CHECK POINT</a:t>
            </a:r>
            <a:endParaRPr lang="en-US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50" name="Text 36"/>
          <p:cNvSpPr txBox="1"/>
          <p:nvPr/>
        </p:nvSpPr>
        <p:spPr>
          <a:xfrm>
            <a:off x="1410005" y="8382305"/>
            <a:ext cx="28575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① TV 전체 크기</a:t>
            </a:r>
            <a:endParaRPr lang="en-US" sz="14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51" name="Text 37"/>
          <p:cNvSpPr txBox="1"/>
          <p:nvPr/>
        </p:nvSpPr>
        <p:spPr>
          <a:xfrm>
            <a:off x="1410005" y="8630107"/>
            <a:ext cx="2857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가로·세로·깊이</a:t>
            </a:r>
            <a:endParaRPr lang="en-US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52" name="Text 38"/>
          <p:cNvSpPr txBox="1"/>
          <p:nvPr/>
        </p:nvSpPr>
        <p:spPr>
          <a:xfrm>
            <a:off x="4839005" y="8382305"/>
            <a:ext cx="2477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② 후면 돌출 위치</a:t>
            </a:r>
            <a:endParaRPr lang="en-US" sz="14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53" name="Text 39"/>
          <p:cNvSpPr txBox="1"/>
          <p:nvPr/>
        </p:nvSpPr>
        <p:spPr>
          <a:xfrm>
            <a:off x="4839005" y="8630107"/>
            <a:ext cx="2477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상·중·하 어디에</a:t>
            </a:r>
            <a:endParaRPr lang="en-US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54" name="Text 40"/>
          <p:cNvSpPr txBox="1"/>
          <p:nvPr/>
        </p:nvSpPr>
        <p:spPr>
          <a:xfrm>
            <a:off x="7886700" y="8382305"/>
            <a:ext cx="2477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③ 돌출 깊이</a:t>
            </a:r>
            <a:endParaRPr lang="en-US" sz="14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55" name="Text 41"/>
          <p:cNvSpPr txBox="1"/>
          <p:nvPr/>
        </p:nvSpPr>
        <p:spPr>
          <a:xfrm>
            <a:off x="7886700" y="8630107"/>
            <a:ext cx="2477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mm 단위 설계</a:t>
            </a:r>
            <a:endParaRPr lang="en-US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56" name="Text 42"/>
          <p:cNvSpPr txBox="1"/>
          <p:nvPr/>
        </p:nvSpPr>
        <p:spPr>
          <a:xfrm>
            <a:off x="10934395" y="8382305"/>
            <a:ext cx="28575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④ 케이블 연결 공간</a:t>
            </a:r>
            <a:endParaRPr lang="en-US" sz="14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57" name="Text 43"/>
          <p:cNvSpPr txBox="1"/>
          <p:nvPr/>
        </p:nvSpPr>
        <p:spPr>
          <a:xfrm>
            <a:off x="10956502" y="8638794"/>
            <a:ext cx="2857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HDMI / 전원 동선</a:t>
            </a:r>
            <a:endParaRPr lang="en-US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58" name="Text 44"/>
          <p:cNvSpPr txBox="1"/>
          <p:nvPr/>
        </p:nvSpPr>
        <p:spPr>
          <a:xfrm>
            <a:off x="14363395" y="8382305"/>
            <a:ext cx="2667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⑤ 브라켓 설치 공간</a:t>
            </a:r>
            <a:endParaRPr lang="en-US" sz="14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59" name="Text 45"/>
          <p:cNvSpPr txBox="1"/>
          <p:nvPr/>
        </p:nvSpPr>
        <p:spPr>
          <a:xfrm>
            <a:off x="14363395" y="8630107"/>
            <a:ext cx="2667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고정·조립 여유</a:t>
            </a:r>
            <a:endParaRPr lang="en-US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60" name="Text 46"/>
          <p:cNvSpPr txBox="1"/>
          <p:nvPr/>
        </p:nvSpPr>
        <p:spPr>
          <a:xfrm>
            <a:off x="1143000" y="9334195"/>
            <a:ext cx="16002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kern="0" spc="66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"65형이라고 매립 사이즈가 모두 같은 것은 아닙니다."</a:t>
            </a:r>
            <a:endParaRPr lang="en-US" sz="16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pic>
        <p:nvPicPr>
          <p:cNvPr id="5123" name="그림 5122">
            <a:extLst>
              <a:ext uri="{FF2B5EF4-FFF2-40B4-BE49-F238E27FC236}">
                <a16:creationId xmlns:a16="http://schemas.microsoft.com/office/drawing/2014/main" id="{F790BBF2-E703-43AA-88B3-15E5357F83F0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39622" r="36873"/>
          <a:stretch/>
        </p:blipFill>
        <p:spPr>
          <a:xfrm>
            <a:off x="12106171" y="4163774"/>
            <a:ext cx="363071" cy="2613678"/>
          </a:xfrm>
          <a:prstGeom prst="rect">
            <a:avLst/>
          </a:prstGeom>
        </p:spPr>
      </p:pic>
      <p:pic>
        <p:nvPicPr>
          <p:cNvPr id="5126" name="그림 5125">
            <a:extLst>
              <a:ext uri="{FF2B5EF4-FFF2-40B4-BE49-F238E27FC236}">
                <a16:creationId xmlns:a16="http://schemas.microsoft.com/office/drawing/2014/main" id="{A0228233-2C03-471B-96ED-585CD4588D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50444" y="4148874"/>
            <a:ext cx="4046063" cy="2595283"/>
          </a:xfrm>
          <a:prstGeom prst="rect">
            <a:avLst/>
          </a:prstGeom>
        </p:spPr>
      </p:pic>
      <p:sp>
        <p:nvSpPr>
          <p:cNvPr id="5127" name="타원 5126">
            <a:extLst>
              <a:ext uri="{FF2B5EF4-FFF2-40B4-BE49-F238E27FC236}">
                <a16:creationId xmlns:a16="http://schemas.microsoft.com/office/drawing/2014/main" id="{8E7AEA0C-6C9F-4B2A-BB7F-587F6416C184}"/>
              </a:ext>
            </a:extLst>
          </p:cNvPr>
          <p:cNvSpPr/>
          <p:nvPr/>
        </p:nvSpPr>
        <p:spPr>
          <a:xfrm>
            <a:off x="14422120" y="5604916"/>
            <a:ext cx="78740" cy="787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5E3C76DA-0BAB-41ED-A94D-57A8B4B914CE}"/>
              </a:ext>
            </a:extLst>
          </p:cNvPr>
          <p:cNvSpPr/>
          <p:nvPr/>
        </p:nvSpPr>
        <p:spPr>
          <a:xfrm>
            <a:off x="15072360" y="5604916"/>
            <a:ext cx="78740" cy="787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1714D4CE-1104-4F6A-A48D-8897A6FC24AB}"/>
              </a:ext>
            </a:extLst>
          </p:cNvPr>
          <p:cNvSpPr/>
          <p:nvPr/>
        </p:nvSpPr>
        <p:spPr>
          <a:xfrm>
            <a:off x="15072360" y="6042685"/>
            <a:ext cx="78740" cy="787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91B5EC3E-536E-49F0-9A0C-5F61202FE47F}"/>
              </a:ext>
            </a:extLst>
          </p:cNvPr>
          <p:cNvSpPr/>
          <p:nvPr/>
        </p:nvSpPr>
        <p:spPr>
          <a:xfrm>
            <a:off x="14422120" y="6042685"/>
            <a:ext cx="78740" cy="787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28" name="직사각형 5127">
            <a:extLst>
              <a:ext uri="{FF2B5EF4-FFF2-40B4-BE49-F238E27FC236}">
                <a16:creationId xmlns:a16="http://schemas.microsoft.com/office/drawing/2014/main" id="{773919C2-82F0-45A6-8D33-81E9060AB67C}"/>
              </a:ext>
            </a:extLst>
          </p:cNvPr>
          <p:cNvSpPr/>
          <p:nvPr/>
        </p:nvSpPr>
        <p:spPr>
          <a:xfrm>
            <a:off x="13125297" y="5429250"/>
            <a:ext cx="3356763" cy="1124255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130" name="그림 5129">
            <a:extLst>
              <a:ext uri="{FF2B5EF4-FFF2-40B4-BE49-F238E27FC236}">
                <a16:creationId xmlns:a16="http://schemas.microsoft.com/office/drawing/2014/main" id="{209479E8-94C3-4508-9D19-B40DC4F82A2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51213" y="3942892"/>
            <a:ext cx="531339" cy="2886761"/>
          </a:xfrm>
          <a:prstGeom prst="rect">
            <a:avLst/>
          </a:prstGeom>
        </p:spPr>
      </p:pic>
      <p:pic>
        <p:nvPicPr>
          <p:cNvPr id="5132" name="그림 5131">
            <a:extLst>
              <a:ext uri="{FF2B5EF4-FFF2-40B4-BE49-F238E27FC236}">
                <a16:creationId xmlns:a16="http://schemas.microsoft.com/office/drawing/2014/main" id="{08868323-B839-4C84-9CDF-290B4F853C0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93419" y="4010442"/>
            <a:ext cx="4558837" cy="2738287"/>
          </a:xfrm>
          <a:prstGeom prst="rect">
            <a:avLst/>
          </a:prstGeom>
        </p:spPr>
      </p:pic>
      <p:pic>
        <p:nvPicPr>
          <p:cNvPr id="82" name="그림 81">
            <a:extLst>
              <a:ext uri="{FF2B5EF4-FFF2-40B4-BE49-F238E27FC236}">
                <a16:creationId xmlns:a16="http://schemas.microsoft.com/office/drawing/2014/main" id="{83CBFC5F-B94F-4BA8-AF48-163844FC8B1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02844" y="4301274"/>
            <a:ext cx="4046063" cy="2595283"/>
          </a:xfrm>
          <a:prstGeom prst="rect">
            <a:avLst/>
          </a:prstGeom>
        </p:spPr>
      </p:pic>
      <p:sp>
        <p:nvSpPr>
          <p:cNvPr id="83" name="타원 82">
            <a:extLst>
              <a:ext uri="{FF2B5EF4-FFF2-40B4-BE49-F238E27FC236}">
                <a16:creationId xmlns:a16="http://schemas.microsoft.com/office/drawing/2014/main" id="{87C1A828-CA31-4B7C-A1D0-DCA4DEA0080A}"/>
              </a:ext>
            </a:extLst>
          </p:cNvPr>
          <p:cNvSpPr/>
          <p:nvPr/>
        </p:nvSpPr>
        <p:spPr>
          <a:xfrm>
            <a:off x="14574520" y="5757316"/>
            <a:ext cx="78740" cy="787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A2E7ED2D-903B-45E9-9630-096EFD1438E8}"/>
              </a:ext>
            </a:extLst>
          </p:cNvPr>
          <p:cNvSpPr/>
          <p:nvPr/>
        </p:nvSpPr>
        <p:spPr>
          <a:xfrm>
            <a:off x="15224760" y="5757316"/>
            <a:ext cx="78740" cy="787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타원 84">
            <a:extLst>
              <a:ext uri="{FF2B5EF4-FFF2-40B4-BE49-F238E27FC236}">
                <a16:creationId xmlns:a16="http://schemas.microsoft.com/office/drawing/2014/main" id="{68BC4CE0-19C1-44EF-BE1F-86FBEB94F3F2}"/>
              </a:ext>
            </a:extLst>
          </p:cNvPr>
          <p:cNvSpPr/>
          <p:nvPr/>
        </p:nvSpPr>
        <p:spPr>
          <a:xfrm>
            <a:off x="15224760" y="6195085"/>
            <a:ext cx="78740" cy="787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타원 85">
            <a:extLst>
              <a:ext uri="{FF2B5EF4-FFF2-40B4-BE49-F238E27FC236}">
                <a16:creationId xmlns:a16="http://schemas.microsoft.com/office/drawing/2014/main" id="{CA3B27AD-D677-4B6B-993B-67EBBA11440A}"/>
              </a:ext>
            </a:extLst>
          </p:cNvPr>
          <p:cNvSpPr/>
          <p:nvPr/>
        </p:nvSpPr>
        <p:spPr>
          <a:xfrm>
            <a:off x="14574520" y="6195085"/>
            <a:ext cx="78740" cy="787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타원 86">
            <a:extLst>
              <a:ext uri="{FF2B5EF4-FFF2-40B4-BE49-F238E27FC236}">
                <a16:creationId xmlns:a16="http://schemas.microsoft.com/office/drawing/2014/main" id="{82489293-87F6-41E8-8FA9-76D56607A585}"/>
              </a:ext>
            </a:extLst>
          </p:cNvPr>
          <p:cNvSpPr/>
          <p:nvPr/>
        </p:nvSpPr>
        <p:spPr>
          <a:xfrm>
            <a:off x="6286500" y="4623727"/>
            <a:ext cx="78740" cy="787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타원 87">
            <a:extLst>
              <a:ext uri="{FF2B5EF4-FFF2-40B4-BE49-F238E27FC236}">
                <a16:creationId xmlns:a16="http://schemas.microsoft.com/office/drawing/2014/main" id="{7EE8EE54-9A09-41A5-A344-11477F8E987C}"/>
              </a:ext>
            </a:extLst>
          </p:cNvPr>
          <p:cNvSpPr/>
          <p:nvPr/>
        </p:nvSpPr>
        <p:spPr>
          <a:xfrm>
            <a:off x="6742735" y="4623727"/>
            <a:ext cx="78740" cy="787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타원 88">
            <a:extLst>
              <a:ext uri="{FF2B5EF4-FFF2-40B4-BE49-F238E27FC236}">
                <a16:creationId xmlns:a16="http://schemas.microsoft.com/office/drawing/2014/main" id="{1E753821-4D2C-45A7-962C-23487C9B7563}"/>
              </a:ext>
            </a:extLst>
          </p:cNvPr>
          <p:cNvSpPr/>
          <p:nvPr/>
        </p:nvSpPr>
        <p:spPr>
          <a:xfrm>
            <a:off x="6742735" y="4756315"/>
            <a:ext cx="78740" cy="787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타원 89">
            <a:extLst>
              <a:ext uri="{FF2B5EF4-FFF2-40B4-BE49-F238E27FC236}">
                <a16:creationId xmlns:a16="http://schemas.microsoft.com/office/drawing/2014/main" id="{7B33534C-1B84-42F6-B054-B64E30BEE676}"/>
              </a:ext>
            </a:extLst>
          </p:cNvPr>
          <p:cNvSpPr/>
          <p:nvPr/>
        </p:nvSpPr>
        <p:spPr>
          <a:xfrm>
            <a:off x="6286500" y="4759159"/>
            <a:ext cx="78740" cy="787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1">
            <a:extLst>
              <a:ext uri="{FF2B5EF4-FFF2-40B4-BE49-F238E27FC236}">
                <a16:creationId xmlns:a16="http://schemas.microsoft.com/office/drawing/2014/main" id="{237FA5F3-CC04-4D03-8AEF-43CD10A1A269}"/>
              </a:ext>
            </a:extLst>
          </p:cNvPr>
          <p:cNvSpPr/>
          <p:nvPr/>
        </p:nvSpPr>
        <p:spPr>
          <a:xfrm>
            <a:off x="11517770" y="2386004"/>
            <a:ext cx="4876800" cy="3619195"/>
          </a:xfrm>
          <a:prstGeom prst="roundRect">
            <a:avLst>
              <a:gd name="adj" fmla="val 1592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65" name="Shape 6">
            <a:extLst>
              <a:ext uri="{FF2B5EF4-FFF2-40B4-BE49-F238E27FC236}">
                <a16:creationId xmlns:a16="http://schemas.microsoft.com/office/drawing/2014/main" id="{E4227CEA-06CF-4975-BC06-8EC077A75C27}"/>
              </a:ext>
            </a:extLst>
          </p:cNvPr>
          <p:cNvSpPr/>
          <p:nvPr/>
        </p:nvSpPr>
        <p:spPr>
          <a:xfrm>
            <a:off x="5176255" y="7801417"/>
            <a:ext cx="1614999" cy="792992"/>
          </a:xfrm>
          <a:prstGeom prst="roundRect">
            <a:avLst>
              <a:gd name="adj" fmla="val 9445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pic>
        <p:nvPicPr>
          <p:cNvPr id="2" name="Image 0" descr="gen-dedup-fd577a1a8bd1a83f01ff41637a147eb7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1110616" y="304713"/>
            <a:ext cx="571500" cy="1920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10616" y="2386004"/>
            <a:ext cx="4572000" cy="3619195"/>
          </a:xfrm>
          <a:prstGeom prst="roundRect">
            <a:avLst>
              <a:gd name="adj" fmla="val 1592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254116" y="2386004"/>
            <a:ext cx="4572000" cy="3619195"/>
          </a:xfrm>
          <a:prstGeom prst="roundRect">
            <a:avLst>
              <a:gd name="adj" fmla="val 1592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70395" y="6861077"/>
            <a:ext cx="1901343" cy="792992"/>
          </a:xfrm>
          <a:prstGeom prst="roundRect">
            <a:avLst>
              <a:gd name="adj" fmla="val 9445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366200" y="6849306"/>
            <a:ext cx="1616051" cy="783787"/>
          </a:xfrm>
          <a:prstGeom prst="roundRect">
            <a:avLst>
              <a:gd name="adj" fmla="val 9445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213745" y="6861077"/>
            <a:ext cx="1616051" cy="792992"/>
          </a:xfrm>
          <a:prstGeom prst="roundRect">
            <a:avLst>
              <a:gd name="adj" fmla="val 9445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996151" y="6861077"/>
            <a:ext cx="1290513" cy="792992"/>
          </a:xfrm>
          <a:prstGeom prst="roundRect">
            <a:avLst>
              <a:gd name="adj" fmla="val 9445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70395" y="7791791"/>
            <a:ext cx="1714501" cy="783787"/>
          </a:xfrm>
          <a:prstGeom prst="roundRect">
            <a:avLst>
              <a:gd name="adj" fmla="val 9445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171738" y="7791791"/>
            <a:ext cx="1810513" cy="783787"/>
          </a:xfrm>
          <a:prstGeom prst="roundRect">
            <a:avLst>
              <a:gd name="adj" fmla="val 9445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pic>
        <p:nvPicPr>
          <p:cNvPr id="14" name="Image 1" descr="gen-dedup-421697e19b67636307648eb29e4573de.png"/>
          <p:cNvPicPr>
            <a:picLocks noChangeAspect="1"/>
          </p:cNvPicPr>
          <p:nvPr/>
        </p:nvPicPr>
        <p:blipFill>
          <a:blip r:embed="rId4"/>
          <a:srcRect t="-4" b="-4"/>
          <a:stretch/>
        </p:blipFill>
        <p:spPr>
          <a:xfrm>
            <a:off x="1270395" y="8648443"/>
            <a:ext cx="8153705" cy="689222"/>
          </a:xfrm>
          <a:prstGeom prst="rect">
            <a:avLst/>
          </a:prstGeom>
        </p:spPr>
      </p:pic>
      <p:pic>
        <p:nvPicPr>
          <p:cNvPr id="17" name="Image 3" descr="gen-dedup-a926f4a3988a2be29236f3b0c59ad77a.png"/>
          <p:cNvPicPr>
            <a:picLocks noChangeAspect="1"/>
          </p:cNvPicPr>
          <p:nvPr/>
        </p:nvPicPr>
        <p:blipFill>
          <a:blip r:embed="rId5"/>
          <a:srcRect t="-360" b="-360"/>
          <a:stretch/>
        </p:blipFill>
        <p:spPr>
          <a:xfrm>
            <a:off x="5777714" y="4081301"/>
            <a:ext cx="381305" cy="1920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 rot="2700000">
            <a:off x="6101411" y="4023694"/>
            <a:ext cx="133502" cy="133502"/>
          </a:xfrm>
          <a:prstGeom prst="rect">
            <a:avLst/>
          </a:prstGeom>
          <a:solidFill>
            <a:srgbClr val="A5003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4" descr="gen-dedup-a926f4a3988a2be29236f3b0c59ad77a.png"/>
          <p:cNvPicPr>
            <a:picLocks noChangeAspect="1"/>
          </p:cNvPicPr>
          <p:nvPr/>
        </p:nvPicPr>
        <p:blipFill>
          <a:blip r:embed="rId5"/>
          <a:srcRect t="-360" b="-360"/>
          <a:stretch/>
        </p:blipFill>
        <p:spPr>
          <a:xfrm>
            <a:off x="10921214" y="4081301"/>
            <a:ext cx="381305" cy="19202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 rot="2700000">
            <a:off x="11244911" y="4023694"/>
            <a:ext cx="133502" cy="133502"/>
          </a:xfrm>
          <a:prstGeom prst="rect">
            <a:avLst/>
          </a:prstGeom>
          <a:solidFill>
            <a:srgbClr val="A5003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6787211" y="3643304"/>
            <a:ext cx="1714500" cy="1333195"/>
          </a:xfrm>
          <a:prstGeom prst="roundRect">
            <a:avLst>
              <a:gd name="adj" fmla="val 144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2"/>
          <p:cNvSpPr txBox="1"/>
          <p:nvPr/>
        </p:nvSpPr>
        <p:spPr>
          <a:xfrm>
            <a:off x="1110616" y="457418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kern="0" spc="243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STEP 4-2 </a:t>
            </a:r>
            <a:r>
              <a:rPr lang="en-US" sz="1350" b="1" kern="0" spc="243" dirty="0">
                <a:solidFill>
                  <a:srgbClr val="B5AFA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/ 반매립 + 셋톱박스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5" name="Text 24"/>
          <p:cNvSpPr txBox="1"/>
          <p:nvPr/>
        </p:nvSpPr>
        <p:spPr>
          <a:xfrm>
            <a:off x="1110616" y="1067323"/>
            <a:ext cx="14097305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750" kern="0" spc="-75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셋톱박스까지 숨기면</a:t>
            </a:r>
            <a:endParaRPr lang="en-US" sz="37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6" name="Text 25"/>
          <p:cNvSpPr txBox="1"/>
          <p:nvPr/>
        </p:nvSpPr>
        <p:spPr>
          <a:xfrm>
            <a:off x="1110616" y="1676313"/>
            <a:ext cx="14097305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750" b="1" kern="0" spc="-75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TV만 보이는 거실을 만들 수 있습니다</a:t>
            </a:r>
            <a:endParaRPr lang="en-US" sz="37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7" name="Text 26"/>
          <p:cNvSpPr txBox="1"/>
          <p:nvPr/>
        </p:nvSpPr>
        <p:spPr>
          <a:xfrm>
            <a:off x="1415111" y="2652094"/>
            <a:ext cx="2286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kern="0" spc="230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STEP 01</a:t>
            </a:r>
            <a:endParaRPr lang="en-US" sz="1275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8" name="Text 27"/>
          <p:cNvSpPr txBox="1"/>
          <p:nvPr/>
        </p:nvSpPr>
        <p:spPr>
          <a:xfrm>
            <a:off x="1415111" y="2947445"/>
            <a:ext cx="228600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일반 벽걸이</a:t>
            </a:r>
            <a:endParaRPr lang="en-US" sz="21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9" name="Text 28"/>
          <p:cNvSpPr txBox="1"/>
          <p:nvPr/>
        </p:nvSpPr>
        <p:spPr>
          <a:xfrm>
            <a:off x="1415111" y="5250819"/>
            <a:ext cx="3963010" cy="564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TV + 셋톱박스 + 케이블이 그대로</a:t>
            </a:r>
            <a:endParaRPr lang="en-US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보이는 일반 벽걸이 상태</a:t>
            </a:r>
            <a:endParaRPr lang="en-US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0" name="Text 29"/>
          <p:cNvSpPr txBox="1"/>
          <p:nvPr/>
        </p:nvSpPr>
        <p:spPr>
          <a:xfrm>
            <a:off x="6558611" y="2652094"/>
            <a:ext cx="2286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kern="0" spc="230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STEP 02</a:t>
            </a:r>
            <a:endParaRPr lang="en-US" sz="1275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1" name="Text 30"/>
          <p:cNvSpPr txBox="1"/>
          <p:nvPr/>
        </p:nvSpPr>
        <p:spPr>
          <a:xfrm>
            <a:off x="6558611" y="2947445"/>
            <a:ext cx="228600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반매립</a:t>
            </a:r>
            <a:endParaRPr lang="en-US" sz="21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2" name="Text 31"/>
          <p:cNvSpPr txBox="1"/>
          <p:nvPr/>
        </p:nvSpPr>
        <p:spPr>
          <a:xfrm>
            <a:off x="6558611" y="5250819"/>
            <a:ext cx="3963010" cy="564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TV 뒤 공간에 셋톱박스를 배치하고</a:t>
            </a:r>
            <a:endParaRPr lang="en-US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벽체 안 깊이를 만들어 합치는 단계</a:t>
            </a:r>
            <a:endParaRPr lang="en-US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3" name="Text 32"/>
          <p:cNvSpPr txBox="1"/>
          <p:nvPr/>
        </p:nvSpPr>
        <p:spPr>
          <a:xfrm>
            <a:off x="11702111" y="2652094"/>
            <a:ext cx="2286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kern="0" spc="230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STEP 03</a:t>
            </a:r>
            <a:endParaRPr lang="en-US" sz="1275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4" name="Text 33"/>
          <p:cNvSpPr txBox="1"/>
          <p:nvPr/>
        </p:nvSpPr>
        <p:spPr>
          <a:xfrm>
            <a:off x="11702111" y="2947445"/>
            <a:ext cx="228600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완성</a:t>
            </a:r>
            <a:endParaRPr lang="en-US" sz="21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5" name="Text 34"/>
          <p:cNvSpPr txBox="1"/>
          <p:nvPr/>
        </p:nvSpPr>
        <p:spPr>
          <a:xfrm>
            <a:off x="11702111" y="5250819"/>
            <a:ext cx="5106010" cy="564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B5AFA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TV만 깔끔하게 보이고,</a:t>
            </a:r>
            <a:endParaRPr lang="en-US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B5AFA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셋톱박스·케이블은 보이지 않는 완성된 상태</a:t>
            </a:r>
            <a:endParaRPr lang="en-US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6" name="Text 35"/>
          <p:cNvSpPr txBox="1"/>
          <p:nvPr/>
        </p:nvSpPr>
        <p:spPr>
          <a:xfrm>
            <a:off x="1270395" y="6498975"/>
            <a:ext cx="4953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kern="0" spc="243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벽 안에 넣을 경우 반드시 고려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7" name="Text 36"/>
          <p:cNvSpPr txBox="1"/>
          <p:nvPr/>
        </p:nvSpPr>
        <p:spPr>
          <a:xfrm>
            <a:off x="1537400" y="7012868"/>
            <a:ext cx="2477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셋톱박스 크기</a:t>
            </a:r>
            <a:endParaRPr lang="en-US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8" name="Text 37"/>
          <p:cNvSpPr txBox="1"/>
          <p:nvPr/>
        </p:nvSpPr>
        <p:spPr>
          <a:xfrm>
            <a:off x="1537400" y="7299075"/>
            <a:ext cx="2477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E988C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가로·세로·깊이 공간</a:t>
            </a:r>
            <a:endParaRPr lang="en-US" sz="14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9" name="Text 38"/>
          <p:cNvSpPr txBox="1"/>
          <p:nvPr/>
        </p:nvSpPr>
        <p:spPr>
          <a:xfrm>
            <a:off x="3632290" y="7001097"/>
            <a:ext cx="2477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통풍</a:t>
            </a:r>
            <a:endParaRPr lang="en-US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50" name="Text 39"/>
          <p:cNvSpPr txBox="1"/>
          <p:nvPr/>
        </p:nvSpPr>
        <p:spPr>
          <a:xfrm>
            <a:off x="3632290" y="7287304"/>
            <a:ext cx="2477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E988C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열 배출 여유</a:t>
            </a:r>
            <a:endParaRPr lang="en-US" sz="14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51" name="Text 40"/>
          <p:cNvSpPr txBox="1"/>
          <p:nvPr/>
        </p:nvSpPr>
        <p:spPr>
          <a:xfrm>
            <a:off x="5480750" y="7012868"/>
            <a:ext cx="2477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리모컨 신호</a:t>
            </a:r>
            <a:endParaRPr lang="en-US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52" name="Text 41"/>
          <p:cNvSpPr txBox="1"/>
          <p:nvPr/>
        </p:nvSpPr>
        <p:spPr>
          <a:xfrm>
            <a:off x="5480750" y="7299075"/>
            <a:ext cx="2477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E988C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IR / Bluetooth</a:t>
            </a:r>
            <a:endParaRPr lang="en-US" sz="14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53" name="Text 42"/>
          <p:cNvSpPr txBox="1"/>
          <p:nvPr/>
        </p:nvSpPr>
        <p:spPr>
          <a:xfrm>
            <a:off x="7263156" y="7012868"/>
            <a:ext cx="2477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전원</a:t>
            </a:r>
            <a:endParaRPr lang="en-US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54" name="Text 43"/>
          <p:cNvSpPr txBox="1"/>
          <p:nvPr/>
        </p:nvSpPr>
        <p:spPr>
          <a:xfrm>
            <a:off x="7263156" y="7299075"/>
            <a:ext cx="2477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E988C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콘센트 인접</a:t>
            </a:r>
            <a:endParaRPr lang="en-US" sz="14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55" name="Text 44"/>
          <p:cNvSpPr txBox="1"/>
          <p:nvPr/>
        </p:nvSpPr>
        <p:spPr>
          <a:xfrm>
            <a:off x="1537400" y="7944494"/>
            <a:ext cx="1714500" cy="2689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HDMI</a:t>
            </a:r>
            <a:endParaRPr lang="en-US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56" name="Text 45"/>
          <p:cNvSpPr txBox="1"/>
          <p:nvPr/>
        </p:nvSpPr>
        <p:spPr>
          <a:xfrm>
            <a:off x="1537400" y="8229788"/>
            <a:ext cx="1148000" cy="2080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E988C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케이블 동선</a:t>
            </a:r>
            <a:endParaRPr lang="en-US" sz="14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57" name="Text 46"/>
          <p:cNvSpPr txBox="1"/>
          <p:nvPr/>
        </p:nvSpPr>
        <p:spPr>
          <a:xfrm>
            <a:off x="3457946" y="7944494"/>
            <a:ext cx="3047100" cy="2489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인터넷 / LAN</a:t>
            </a:r>
            <a:endParaRPr lang="en-US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58" name="Text 47"/>
          <p:cNvSpPr txBox="1"/>
          <p:nvPr/>
        </p:nvSpPr>
        <p:spPr>
          <a:xfrm>
            <a:off x="3457946" y="8229788"/>
            <a:ext cx="35433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E988C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유선 연결 여부</a:t>
            </a:r>
            <a:endParaRPr lang="en-US" sz="14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59" name="Text 48"/>
          <p:cNvSpPr txBox="1"/>
          <p:nvPr/>
        </p:nvSpPr>
        <p:spPr>
          <a:xfrm>
            <a:off x="5309300" y="7944495"/>
            <a:ext cx="1390803" cy="2378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유지보수 공간</a:t>
            </a:r>
            <a:endParaRPr lang="en-US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60" name="Text 49"/>
          <p:cNvSpPr txBox="1"/>
          <p:nvPr/>
        </p:nvSpPr>
        <p:spPr>
          <a:xfrm>
            <a:off x="5309301" y="8229787"/>
            <a:ext cx="1113041" cy="2080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B5AFA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교체·점검 여유</a:t>
            </a:r>
            <a:endParaRPr lang="en-US" sz="14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61" name="Text 50"/>
          <p:cNvSpPr txBox="1"/>
          <p:nvPr/>
        </p:nvSpPr>
        <p:spPr>
          <a:xfrm>
            <a:off x="1651700" y="8802466"/>
            <a:ext cx="11239805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반매립을 계획한다면 TV만 정하는 게 아니라 </a:t>
            </a:r>
            <a:r>
              <a:rPr lang="en-US" sz="1650" b="1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셋톱박스</a:t>
            </a:r>
            <a:r>
              <a:rPr lang="en-US" sz="1650" dirty="0"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까지 어디에 숨길지 함께 정해야 합니다.</a:t>
            </a:r>
            <a:endParaRPr lang="en-US" sz="16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11CA6568-B30C-4787-9E45-92B680FD81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28" r="2587"/>
          <a:stretch/>
        </p:blipFill>
        <p:spPr bwMode="auto">
          <a:xfrm>
            <a:off x="11517771" y="6193565"/>
            <a:ext cx="4876800" cy="3983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반매립 티비 시공">
            <a:extLst>
              <a:ext uri="{FF2B5EF4-FFF2-40B4-BE49-F238E27FC236}">
                <a16:creationId xmlns:a16="http://schemas.microsoft.com/office/drawing/2014/main" id="{5526F1AA-82D4-40FB-BDDB-63659E0714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0164" y="3376153"/>
            <a:ext cx="3791101" cy="1684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TV 티비 매립? 반매립?">
            <a:extLst>
              <a:ext uri="{FF2B5EF4-FFF2-40B4-BE49-F238E27FC236}">
                <a16:creationId xmlns:a16="http://schemas.microsoft.com/office/drawing/2014/main" id="{50E398FF-4F9B-4168-8FBF-9B591D3CC9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48" t="19400" r="10853" b="17394"/>
          <a:stretch/>
        </p:blipFill>
        <p:spPr bwMode="auto">
          <a:xfrm>
            <a:off x="12404664" y="3202680"/>
            <a:ext cx="3564952" cy="1971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강릉 무타공 벽걸이티비 설치(강릉미디어촌)">
            <a:extLst>
              <a:ext uri="{FF2B5EF4-FFF2-40B4-BE49-F238E27FC236}">
                <a16:creationId xmlns:a16="http://schemas.microsoft.com/office/drawing/2014/main" id="{C37D8B09-9E76-4F1F-9638-BC2DB3956E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729" y="3314122"/>
            <a:ext cx="1901171" cy="1805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8" name="Picture 10" descr="상무광명메이루즈 광주벽걸이티비설치 무타공설치 가능합니다.">
            <a:extLst>
              <a:ext uri="{FF2B5EF4-FFF2-40B4-BE49-F238E27FC236}">
                <a16:creationId xmlns:a16="http://schemas.microsoft.com/office/drawing/2014/main" id="{CA405DA8-F551-4971-814E-4EE65E9313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94"/>
          <a:stretch/>
        </p:blipFill>
        <p:spPr bwMode="auto">
          <a:xfrm>
            <a:off x="3409891" y="3299874"/>
            <a:ext cx="1942869" cy="1819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1">
            <a:extLst>
              <a:ext uri="{FF2B5EF4-FFF2-40B4-BE49-F238E27FC236}">
                <a16:creationId xmlns:a16="http://schemas.microsoft.com/office/drawing/2014/main" id="{711742FA-1F54-4972-A85A-A7B65E2EC71C}"/>
              </a:ext>
            </a:extLst>
          </p:cNvPr>
          <p:cNvSpPr/>
          <p:nvPr/>
        </p:nvSpPr>
        <p:spPr>
          <a:xfrm>
            <a:off x="1143000" y="2651843"/>
            <a:ext cx="5143500" cy="5715000"/>
          </a:xfrm>
          <a:prstGeom prst="roundRect">
            <a:avLst>
              <a:gd name="adj" fmla="val 1120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pic>
        <p:nvPicPr>
          <p:cNvPr id="62" name="Image 3" descr="gen-dedup-f60247eb39aee91a40982274d09a949a.png">
            <a:extLst>
              <a:ext uri="{FF2B5EF4-FFF2-40B4-BE49-F238E27FC236}">
                <a16:creationId xmlns:a16="http://schemas.microsoft.com/office/drawing/2014/main" id="{F79248D6-4D12-4AD5-928D-EA6805D7CB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61745" y="2667305"/>
            <a:ext cx="5143500" cy="571500"/>
          </a:xfrm>
          <a:prstGeom prst="rect">
            <a:avLst/>
          </a:prstGeom>
        </p:spPr>
      </p:pic>
      <p:pic>
        <p:nvPicPr>
          <p:cNvPr id="2" name="Image 0" descr="gen-dedup-fd577a1a8bd1a83f01ff41637a147eb7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1143000" y="761695"/>
            <a:ext cx="571500" cy="1920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572707" y="2667305"/>
            <a:ext cx="5143500" cy="5715000"/>
          </a:xfrm>
          <a:prstGeom prst="roundRect">
            <a:avLst>
              <a:gd name="adj" fmla="val 1120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001500" y="2667305"/>
            <a:ext cx="5143500" cy="5715000"/>
          </a:xfrm>
          <a:prstGeom prst="roundRect">
            <a:avLst>
              <a:gd name="adj" fmla="val 1120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pic>
        <p:nvPicPr>
          <p:cNvPr id="7" name="Image 1" descr="gen-dedup-b59ca22ae1010c2fed31daff86d6e7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143001" y="8691456"/>
            <a:ext cx="13307596" cy="1028700"/>
          </a:xfrm>
          <a:prstGeom prst="rect">
            <a:avLst/>
          </a:prstGeom>
        </p:spPr>
      </p:pic>
      <p:pic>
        <p:nvPicPr>
          <p:cNvPr id="9" name="Image 3" descr="gen-dedup-f60247eb39aee91a40982274d09a949a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72707" y="2667305"/>
            <a:ext cx="5143500" cy="571500"/>
          </a:xfrm>
          <a:prstGeom prst="rect">
            <a:avLst/>
          </a:prstGeom>
        </p:spPr>
      </p:pic>
      <p:pic>
        <p:nvPicPr>
          <p:cNvPr id="10" name="Image 4" descr="gen-dedup-f60247eb39aee91a40982274d09a949a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001500" y="2667305"/>
            <a:ext cx="5143500" cy="571500"/>
          </a:xfrm>
          <a:prstGeom prst="rect">
            <a:avLst/>
          </a:prstGeom>
        </p:spPr>
      </p:pic>
      <p:pic>
        <p:nvPicPr>
          <p:cNvPr id="12" name="Image 5" descr="gen-dedup-6c6a6fe112e6738e8b739df4507231bb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1447495" y="6381598"/>
            <a:ext cx="4572000" cy="9144"/>
          </a:xfrm>
          <a:prstGeom prst="rect">
            <a:avLst/>
          </a:prstGeom>
        </p:spPr>
      </p:pic>
      <p:pic>
        <p:nvPicPr>
          <p:cNvPr id="13" name="Image 6" descr="gen-dedup-6c6a6fe112e6738e8b739df4507231bb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1447495" y="7334402"/>
            <a:ext cx="4572000" cy="9144"/>
          </a:xfrm>
          <a:prstGeom prst="rect">
            <a:avLst/>
          </a:prstGeom>
        </p:spPr>
      </p:pic>
      <p:pic>
        <p:nvPicPr>
          <p:cNvPr id="15" name="Image 7" descr="gen-dedup-e042672835237c10bd5424b80fdf1657.png"/>
          <p:cNvPicPr>
            <a:picLocks noChangeAspect="1"/>
          </p:cNvPicPr>
          <p:nvPr/>
        </p:nvPicPr>
        <p:blipFill>
          <a:blip r:embed="rId7"/>
          <a:srcRect l="-2083" r="-2083"/>
          <a:stretch/>
        </p:blipFill>
        <p:spPr>
          <a:xfrm>
            <a:off x="6877202" y="6381598"/>
            <a:ext cx="4572000" cy="9144"/>
          </a:xfrm>
          <a:prstGeom prst="rect">
            <a:avLst/>
          </a:prstGeom>
        </p:spPr>
      </p:pic>
      <p:pic>
        <p:nvPicPr>
          <p:cNvPr id="16" name="Image 8" descr="gen-dedup-e042672835237c10bd5424b80fdf1657.png"/>
          <p:cNvPicPr>
            <a:picLocks noChangeAspect="1"/>
          </p:cNvPicPr>
          <p:nvPr/>
        </p:nvPicPr>
        <p:blipFill>
          <a:blip r:embed="rId7"/>
          <a:srcRect l="-2083" r="-2083"/>
          <a:stretch/>
        </p:blipFill>
        <p:spPr>
          <a:xfrm>
            <a:off x="6877202" y="7638898"/>
            <a:ext cx="4572000" cy="9144"/>
          </a:xfrm>
          <a:prstGeom prst="rect">
            <a:avLst/>
          </a:prstGeom>
        </p:spPr>
      </p:pic>
      <p:pic>
        <p:nvPicPr>
          <p:cNvPr id="18" name="Image 9" descr="gen-dedup-e042672835237c10bd5424b80fdf1657.png"/>
          <p:cNvPicPr>
            <a:picLocks noChangeAspect="1"/>
          </p:cNvPicPr>
          <p:nvPr/>
        </p:nvPicPr>
        <p:blipFill>
          <a:blip r:embed="rId7"/>
          <a:srcRect l="-2083" r="-2083"/>
          <a:stretch/>
        </p:blipFill>
        <p:spPr>
          <a:xfrm>
            <a:off x="12305995" y="6381598"/>
            <a:ext cx="4572000" cy="9144"/>
          </a:xfrm>
          <a:prstGeom prst="rect">
            <a:avLst/>
          </a:prstGeom>
        </p:spPr>
      </p:pic>
      <p:pic>
        <p:nvPicPr>
          <p:cNvPr id="19" name="Image 10" descr="gen-dedup-e042672835237c10bd5424b80fdf1657.png"/>
          <p:cNvPicPr>
            <a:picLocks noChangeAspect="1"/>
          </p:cNvPicPr>
          <p:nvPr/>
        </p:nvPicPr>
        <p:blipFill>
          <a:blip r:embed="rId7"/>
          <a:srcRect l="-2083" r="-2083"/>
          <a:stretch/>
        </p:blipFill>
        <p:spPr>
          <a:xfrm>
            <a:off x="12305995" y="7638898"/>
            <a:ext cx="4572000" cy="9144"/>
          </a:xfrm>
          <a:prstGeom prst="rect">
            <a:avLst/>
          </a:prstGeom>
        </p:spPr>
      </p:pic>
      <p:sp>
        <p:nvSpPr>
          <p:cNvPr id="27" name="Text 14"/>
          <p:cNvSpPr txBox="1"/>
          <p:nvPr/>
        </p:nvSpPr>
        <p:spPr>
          <a:xfrm>
            <a:off x="1143000" y="914400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kern="0" spc="243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STEP 4-3 </a:t>
            </a:r>
            <a:r>
              <a:rPr lang="en-US" sz="1350" b="1" kern="0" spc="243" dirty="0">
                <a:solidFill>
                  <a:srgbClr val="B5AFA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/ 셋톱박스 3가지 배치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9" name="Text 16"/>
          <p:cNvSpPr txBox="1"/>
          <p:nvPr/>
        </p:nvSpPr>
        <p:spPr>
          <a:xfrm>
            <a:off x="1143000" y="1524305"/>
            <a:ext cx="14097305" cy="724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500" kern="0" spc="-9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셋톱박스는 어디에 둘까요?</a:t>
            </a:r>
            <a:endParaRPr lang="en-US" sz="45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0" name="Text 17"/>
          <p:cNvSpPr txBox="1"/>
          <p:nvPr/>
        </p:nvSpPr>
        <p:spPr>
          <a:xfrm>
            <a:off x="1447495" y="2800807"/>
            <a:ext cx="22860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kern="0" spc="243" dirty="0"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OPTION · 01</a:t>
            </a:r>
            <a:endParaRPr lang="en-US" sz="16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1" name="Text 18"/>
          <p:cNvSpPr txBox="1"/>
          <p:nvPr/>
        </p:nvSpPr>
        <p:spPr>
          <a:xfrm>
            <a:off x="3448202" y="2800807"/>
            <a:ext cx="2667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600" kern="0" spc="54" dirty="0">
                <a:solidFill>
                  <a:srgbClr val="FFFFFF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추천 ★</a:t>
            </a:r>
            <a:endParaRPr lang="en-US" sz="16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2" name="Text 19"/>
          <p:cNvSpPr txBox="1"/>
          <p:nvPr/>
        </p:nvSpPr>
        <p:spPr>
          <a:xfrm>
            <a:off x="1447495" y="3429000"/>
            <a:ext cx="45720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-24" dirty="0"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TV 뒤 반매립 공간</a:t>
            </a:r>
            <a:endParaRPr lang="en-US" sz="32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3" name="Text 20"/>
          <p:cNvSpPr txBox="1"/>
          <p:nvPr/>
        </p:nvSpPr>
        <p:spPr>
          <a:xfrm>
            <a:off x="1447495" y="5658307"/>
            <a:ext cx="457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kern="0" spc="48" dirty="0">
                <a:solidFill>
                  <a:srgbClr val="B5AFA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추천 상황</a:t>
            </a:r>
            <a:endParaRPr lang="en-US" sz="16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4" name="Text 21"/>
          <p:cNvSpPr txBox="1"/>
          <p:nvPr/>
        </p:nvSpPr>
        <p:spPr>
          <a:xfrm>
            <a:off x="1447495" y="5943600"/>
            <a:ext cx="4572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반매립 인테리어 계획 고객</a:t>
            </a:r>
            <a:endParaRPr lang="en-US" sz="20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5" name="Text 22"/>
          <p:cNvSpPr txBox="1"/>
          <p:nvPr/>
        </p:nvSpPr>
        <p:spPr>
          <a:xfrm>
            <a:off x="1447495" y="6610198"/>
            <a:ext cx="457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kern="0" spc="48" dirty="0">
                <a:solidFill>
                  <a:srgbClr val="B5AFA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장점</a:t>
            </a:r>
            <a:endParaRPr lang="en-US" sz="16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6" name="Text 23"/>
          <p:cNvSpPr txBox="1"/>
          <p:nvPr/>
        </p:nvSpPr>
        <p:spPr>
          <a:xfrm>
            <a:off x="1447495" y="6896405"/>
            <a:ext cx="4572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TV 주변이 가장 깔끔</a:t>
            </a:r>
            <a:endParaRPr lang="en-US" sz="20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7" name="Text 24"/>
          <p:cNvSpPr txBox="1"/>
          <p:nvPr/>
        </p:nvSpPr>
        <p:spPr>
          <a:xfrm>
            <a:off x="1447495" y="7563002"/>
            <a:ext cx="457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kern="0" spc="48" dirty="0">
                <a:solidFill>
                  <a:srgbClr val="B5AFA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주의</a:t>
            </a:r>
            <a:endParaRPr lang="en-US" sz="16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8" name="Text 25"/>
          <p:cNvSpPr txBox="1"/>
          <p:nvPr/>
        </p:nvSpPr>
        <p:spPr>
          <a:xfrm>
            <a:off x="1447495" y="7818120"/>
            <a:ext cx="4572000" cy="564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통풍 / 리모컨 신호 / 전원 / HDMI</a:t>
            </a:r>
            <a:endParaRPr lang="en-US" sz="16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인터넷 / 유지보수 공간</a:t>
            </a:r>
            <a:endParaRPr lang="en-US" sz="16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9" name="Text 26"/>
          <p:cNvSpPr txBox="1"/>
          <p:nvPr/>
        </p:nvSpPr>
        <p:spPr>
          <a:xfrm>
            <a:off x="6877202" y="2800807"/>
            <a:ext cx="22860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kern="0" spc="243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OPTION · 02</a:t>
            </a:r>
            <a:endParaRPr lang="en-US" sz="16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0" name="Text 27"/>
          <p:cNvSpPr txBox="1"/>
          <p:nvPr/>
        </p:nvSpPr>
        <p:spPr>
          <a:xfrm>
            <a:off x="6877202" y="3429000"/>
            <a:ext cx="45720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-24" dirty="0" err="1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TV장</a:t>
            </a:r>
            <a:r>
              <a:rPr lang="en-US" sz="3200" b="1" kern="0" spc="-24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 </a:t>
            </a:r>
            <a:r>
              <a:rPr lang="ko-KR" altLang="en-US" sz="3200" b="1" kern="0" spc="-24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위</a:t>
            </a:r>
            <a:endParaRPr lang="en-US" sz="32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1" name="Text 28"/>
          <p:cNvSpPr txBox="1"/>
          <p:nvPr/>
        </p:nvSpPr>
        <p:spPr>
          <a:xfrm>
            <a:off x="6877202" y="5658307"/>
            <a:ext cx="457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kern="0" spc="48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추천 상황</a:t>
            </a:r>
            <a:endParaRPr lang="en-US" sz="16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2" name="Text 29"/>
          <p:cNvSpPr txBox="1"/>
          <p:nvPr/>
        </p:nvSpPr>
        <p:spPr>
          <a:xfrm>
            <a:off x="6877202" y="5943600"/>
            <a:ext cx="4572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스탠드 TV + TV장 사용</a:t>
            </a:r>
            <a:endParaRPr lang="en-US" sz="20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3" name="Text 30"/>
          <p:cNvSpPr txBox="1"/>
          <p:nvPr/>
        </p:nvSpPr>
        <p:spPr>
          <a:xfrm>
            <a:off x="6877202" y="6610198"/>
            <a:ext cx="457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kern="0" spc="48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장점</a:t>
            </a:r>
            <a:endParaRPr lang="en-US" sz="16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4" name="Text 31"/>
          <p:cNvSpPr txBox="1"/>
          <p:nvPr/>
        </p:nvSpPr>
        <p:spPr>
          <a:xfrm>
            <a:off x="6877202" y="6896405"/>
            <a:ext cx="4572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관리·접근이 편리</a:t>
            </a:r>
            <a:endParaRPr lang="en-US" sz="20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5" name="Text 32"/>
          <p:cNvSpPr txBox="1"/>
          <p:nvPr/>
        </p:nvSpPr>
        <p:spPr>
          <a:xfrm>
            <a:off x="6877202" y="7200900"/>
            <a:ext cx="45720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셋톱박스·공유기·멀티탭 함께 정리</a:t>
            </a:r>
            <a:endParaRPr lang="en-US" sz="16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6" name="Text 33"/>
          <p:cNvSpPr txBox="1"/>
          <p:nvPr/>
        </p:nvSpPr>
        <p:spPr>
          <a:xfrm>
            <a:off x="6877202" y="7791602"/>
            <a:ext cx="457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kern="0" spc="48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주의</a:t>
            </a:r>
            <a:endParaRPr lang="en-US" sz="16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7" name="Text 34"/>
          <p:cNvSpPr txBox="1"/>
          <p:nvPr/>
        </p:nvSpPr>
        <p:spPr>
          <a:xfrm>
            <a:off x="6877202" y="8076895"/>
            <a:ext cx="45720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통풍 / 신호 / 케이블 정리</a:t>
            </a:r>
            <a:endParaRPr lang="en-US" sz="16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8" name="Text 35"/>
          <p:cNvSpPr txBox="1"/>
          <p:nvPr/>
        </p:nvSpPr>
        <p:spPr>
          <a:xfrm>
            <a:off x="12305995" y="2800807"/>
            <a:ext cx="22860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kern="0" spc="243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OPTION · 03</a:t>
            </a:r>
            <a:endParaRPr lang="en-US" sz="16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9" name="Text 36"/>
          <p:cNvSpPr txBox="1"/>
          <p:nvPr/>
        </p:nvSpPr>
        <p:spPr>
          <a:xfrm>
            <a:off x="12305995" y="3429000"/>
            <a:ext cx="45720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-24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별도 사이드 수납장</a:t>
            </a:r>
            <a:endParaRPr lang="en-US" sz="32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50" name="Text 37"/>
          <p:cNvSpPr txBox="1"/>
          <p:nvPr/>
        </p:nvSpPr>
        <p:spPr>
          <a:xfrm>
            <a:off x="12305995" y="5658307"/>
            <a:ext cx="457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kern="0" spc="48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추천 상황</a:t>
            </a:r>
            <a:endParaRPr lang="en-US" sz="16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51" name="Text 38"/>
          <p:cNvSpPr txBox="1"/>
          <p:nvPr/>
        </p:nvSpPr>
        <p:spPr>
          <a:xfrm>
            <a:off x="12305995" y="5943600"/>
            <a:ext cx="4572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이젤형 또는 벽면 깔끔 유지</a:t>
            </a:r>
            <a:endParaRPr lang="en-US" sz="20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52" name="Text 39"/>
          <p:cNvSpPr txBox="1"/>
          <p:nvPr/>
        </p:nvSpPr>
        <p:spPr>
          <a:xfrm>
            <a:off x="12305995" y="6610198"/>
            <a:ext cx="457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kern="0" spc="48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장점</a:t>
            </a:r>
            <a:endParaRPr lang="en-US" sz="16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53" name="Text 40"/>
          <p:cNvSpPr txBox="1"/>
          <p:nvPr/>
        </p:nvSpPr>
        <p:spPr>
          <a:xfrm>
            <a:off x="12305995" y="6896405"/>
            <a:ext cx="4572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관리가 편리</a:t>
            </a:r>
            <a:endParaRPr lang="en-US" sz="20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54" name="Text 41"/>
          <p:cNvSpPr txBox="1"/>
          <p:nvPr/>
        </p:nvSpPr>
        <p:spPr>
          <a:xfrm>
            <a:off x="12305995" y="7200900"/>
            <a:ext cx="45720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TV 주변을 깔끔하게 유지</a:t>
            </a:r>
            <a:endParaRPr lang="en-US" sz="16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55" name="Text 42"/>
          <p:cNvSpPr txBox="1"/>
          <p:nvPr/>
        </p:nvSpPr>
        <p:spPr>
          <a:xfrm>
            <a:off x="12305995" y="7791602"/>
            <a:ext cx="457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kern="0" spc="48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주의</a:t>
            </a:r>
            <a:endParaRPr lang="en-US" sz="16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56" name="Text 43"/>
          <p:cNvSpPr txBox="1"/>
          <p:nvPr/>
        </p:nvSpPr>
        <p:spPr>
          <a:xfrm>
            <a:off x="12305995" y="8076895"/>
            <a:ext cx="45720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수납장 위치 / 케이블 동선</a:t>
            </a:r>
            <a:endParaRPr lang="en-US" sz="16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57" name="Text 44"/>
          <p:cNvSpPr txBox="1"/>
          <p:nvPr/>
        </p:nvSpPr>
        <p:spPr>
          <a:xfrm>
            <a:off x="1524306" y="8876996"/>
            <a:ext cx="6733004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dirty="0"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TV를 고르는 것보다 중요한 건</a:t>
            </a:r>
            <a:endParaRPr lang="en-US" sz="19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58" name="Text 45"/>
          <p:cNvSpPr txBox="1"/>
          <p:nvPr/>
        </p:nvSpPr>
        <p:spPr>
          <a:xfrm>
            <a:off x="1524306" y="9258300"/>
            <a:ext cx="6191402" cy="4379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dirty="0"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TV가 들어갈 </a:t>
            </a:r>
            <a:r>
              <a:rPr lang="en-US" sz="1950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공간</a:t>
            </a:r>
            <a:r>
              <a:rPr lang="en-US" sz="1950" dirty="0"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까지 함께 설계하는 것입니다.</a:t>
            </a:r>
            <a:endParaRPr lang="en-US" sz="19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pic>
        <p:nvPicPr>
          <p:cNvPr id="64" name="Picture 4" descr="반매립 티비 시공">
            <a:extLst>
              <a:ext uri="{FF2B5EF4-FFF2-40B4-BE49-F238E27FC236}">
                <a16:creationId xmlns:a16="http://schemas.microsoft.com/office/drawing/2014/main" id="{EB805A2E-B582-400B-BE5C-85D511C5F8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5799" y="3978481"/>
            <a:ext cx="4303110" cy="1622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D5927F3F-CCA1-4807-A394-30613DCFA6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3225" y="4001789"/>
            <a:ext cx="4781550" cy="145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>
            <a:extLst>
              <a:ext uri="{FF2B5EF4-FFF2-40B4-BE49-F238E27FC236}">
                <a16:creationId xmlns:a16="http://schemas.microsoft.com/office/drawing/2014/main" id="{6649BC17-8FA0-435D-A288-68A4528E9D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34" b="20106"/>
          <a:stretch/>
        </p:blipFill>
        <p:spPr bwMode="auto">
          <a:xfrm>
            <a:off x="12269419" y="4001789"/>
            <a:ext cx="4356036" cy="145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1">
            <a:extLst>
              <a:ext uri="{FF2B5EF4-FFF2-40B4-BE49-F238E27FC236}">
                <a16:creationId xmlns:a16="http://schemas.microsoft.com/office/drawing/2014/main" id="{62244A2B-69F7-47D3-B4EA-76232C9E0194}"/>
              </a:ext>
            </a:extLst>
          </p:cNvPr>
          <p:cNvSpPr/>
          <p:nvPr/>
        </p:nvSpPr>
        <p:spPr>
          <a:xfrm>
            <a:off x="9328847" y="5276795"/>
            <a:ext cx="7810805" cy="1809598"/>
          </a:xfrm>
          <a:prstGeom prst="roundRect">
            <a:avLst>
              <a:gd name="adj" fmla="val 3183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53" name="Shape 8">
            <a:extLst>
              <a:ext uri="{FF2B5EF4-FFF2-40B4-BE49-F238E27FC236}">
                <a16:creationId xmlns:a16="http://schemas.microsoft.com/office/drawing/2014/main" id="{0B6650CD-745C-40D2-A053-09505EBC89B2}"/>
              </a:ext>
            </a:extLst>
          </p:cNvPr>
          <p:cNvSpPr/>
          <p:nvPr/>
        </p:nvSpPr>
        <p:spPr>
          <a:xfrm>
            <a:off x="8992209" y="7684686"/>
            <a:ext cx="2286000" cy="609905"/>
          </a:xfrm>
          <a:prstGeom prst="roundRect">
            <a:avLst>
              <a:gd name="adj" fmla="val 9445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pic>
        <p:nvPicPr>
          <p:cNvPr id="52" name="Image 1" descr="gen-dedup-9d2dc3fd15bc6cd98e0d32f178fe9eaa.png">
            <a:extLst>
              <a:ext uri="{FF2B5EF4-FFF2-40B4-BE49-F238E27FC236}">
                <a16:creationId xmlns:a16="http://schemas.microsoft.com/office/drawing/2014/main" id="{68559FA7-83D0-4656-804F-344675F6B0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5" b="-15"/>
          <a:stretch/>
        </p:blipFill>
        <p:spPr>
          <a:xfrm>
            <a:off x="9715500" y="8637034"/>
            <a:ext cx="8191195" cy="1181405"/>
          </a:xfrm>
          <a:prstGeom prst="rect">
            <a:avLst/>
          </a:prstGeom>
        </p:spPr>
      </p:pic>
      <p:pic>
        <p:nvPicPr>
          <p:cNvPr id="2" name="Image 0" descr="gen-dedup-fd577a1a8bd1a83f01ff41637a147eb7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1143000" y="761695"/>
            <a:ext cx="571500" cy="1920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3238805"/>
            <a:ext cx="7810805" cy="1809598"/>
          </a:xfrm>
          <a:prstGeom prst="roundRect">
            <a:avLst>
              <a:gd name="adj" fmla="val 3183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334195" y="3238805"/>
            <a:ext cx="7810805" cy="1809598"/>
          </a:xfrm>
          <a:prstGeom prst="roundRect">
            <a:avLst>
              <a:gd name="adj" fmla="val 3183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143000" y="5238598"/>
            <a:ext cx="7810805" cy="1809598"/>
          </a:xfrm>
          <a:prstGeom prst="roundRect">
            <a:avLst>
              <a:gd name="adj" fmla="val 3183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43000" y="7715707"/>
            <a:ext cx="2476195" cy="609905"/>
          </a:xfrm>
          <a:prstGeom prst="roundRect">
            <a:avLst>
              <a:gd name="adj" fmla="val 9445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752698" y="7715707"/>
            <a:ext cx="2476195" cy="609905"/>
          </a:xfrm>
          <a:prstGeom prst="roundRect">
            <a:avLst>
              <a:gd name="adj" fmla="val 9445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362395" y="7715707"/>
            <a:ext cx="2476195" cy="609905"/>
          </a:xfrm>
          <a:prstGeom prst="roundRect">
            <a:avLst>
              <a:gd name="adj" fmla="val 9445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391595" y="7715707"/>
            <a:ext cx="2286000" cy="609905"/>
          </a:xfrm>
          <a:prstGeom prst="roundRect">
            <a:avLst>
              <a:gd name="adj" fmla="val 9445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3811098" y="7715707"/>
            <a:ext cx="2286000" cy="609905"/>
          </a:xfrm>
          <a:prstGeom prst="roundRect">
            <a:avLst>
              <a:gd name="adj" fmla="val 9445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pic>
        <p:nvPicPr>
          <p:cNvPr id="14" name="Image 1" descr="gen-dedup-9d2dc3fd15bc6cd98e0d32f178fe9eaa.png"/>
          <p:cNvPicPr>
            <a:picLocks noChangeAspect="1"/>
          </p:cNvPicPr>
          <p:nvPr/>
        </p:nvPicPr>
        <p:blipFill>
          <a:blip r:embed="rId3"/>
          <a:srcRect t="-15" b="-15"/>
          <a:stretch/>
        </p:blipFill>
        <p:spPr>
          <a:xfrm>
            <a:off x="1143000" y="8637034"/>
            <a:ext cx="8191195" cy="1181405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1143000" y="914400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kern="0" spc="243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APPENDIX </a:t>
            </a:r>
            <a:r>
              <a:rPr lang="en-US" sz="1350" b="1" kern="0" spc="243" dirty="0">
                <a:solidFill>
                  <a:srgbClr val="B5AFA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/ 4가지 설치 위치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9" name="Text 25"/>
          <p:cNvSpPr txBox="1"/>
          <p:nvPr/>
        </p:nvSpPr>
        <p:spPr>
          <a:xfrm>
            <a:off x="1143000" y="1524305"/>
            <a:ext cx="14097305" cy="648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050" kern="0" spc="-81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TV와 함께 사용하는 PlayStation,</a:t>
            </a:r>
            <a:endParaRPr lang="en-US" sz="40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0" name="Text 26"/>
          <p:cNvSpPr txBox="1"/>
          <p:nvPr/>
        </p:nvSpPr>
        <p:spPr>
          <a:xfrm>
            <a:off x="1143000" y="2171700"/>
            <a:ext cx="14097305" cy="648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050" b="1" kern="0" spc="-81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어디에 둘까요?</a:t>
            </a:r>
            <a:endParaRPr lang="en-US" sz="40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1" name="Text 27"/>
          <p:cNvSpPr txBox="1"/>
          <p:nvPr/>
        </p:nvSpPr>
        <p:spPr>
          <a:xfrm>
            <a:off x="1447495" y="3448202"/>
            <a:ext cx="76261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50" b="1" kern="0" spc="114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01</a:t>
            </a:r>
            <a:endParaRPr lang="en-US" sz="28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2" name="Text 28"/>
          <p:cNvSpPr txBox="1"/>
          <p:nvPr/>
        </p:nvSpPr>
        <p:spPr>
          <a:xfrm>
            <a:off x="2286000" y="3448202"/>
            <a:ext cx="62865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TV장 위</a:t>
            </a:r>
            <a:endParaRPr lang="en-US" sz="22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3" name="Text 29"/>
          <p:cNvSpPr txBox="1"/>
          <p:nvPr/>
        </p:nvSpPr>
        <p:spPr>
          <a:xfrm>
            <a:off x="9639605" y="3448202"/>
            <a:ext cx="76261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50" b="1" kern="0" spc="114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02</a:t>
            </a:r>
            <a:endParaRPr lang="en-US" sz="28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4" name="Text 30"/>
          <p:cNvSpPr txBox="1"/>
          <p:nvPr/>
        </p:nvSpPr>
        <p:spPr>
          <a:xfrm>
            <a:off x="10477195" y="3448202"/>
            <a:ext cx="62865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ko-KR" altLang="en-US" sz="2250" b="1" dirty="0" err="1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</a:rPr>
              <a:t>반매립</a:t>
            </a:r>
            <a:r>
              <a:rPr lang="ko-KR" altLang="en-US" sz="2250" b="1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</a:rPr>
              <a:t> </a:t>
            </a:r>
            <a:r>
              <a:rPr lang="ko-KR" altLang="en-US" sz="2250" b="1" dirty="0" err="1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</a:rPr>
              <a:t>티비</a:t>
            </a:r>
            <a:r>
              <a:rPr lang="ko-KR" altLang="en-US" sz="2250" b="1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</a:rPr>
              <a:t> 공간</a:t>
            </a:r>
            <a:endParaRPr lang="en-US" altLang="ko-KR" sz="2250" b="1" dirty="0">
              <a:solidFill>
                <a:srgbClr val="1A1A1A"/>
              </a:solidFill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5" name="Text 31"/>
          <p:cNvSpPr txBox="1"/>
          <p:nvPr/>
        </p:nvSpPr>
        <p:spPr>
          <a:xfrm>
            <a:off x="11106302" y="4552798"/>
            <a:ext cx="762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수납</a:t>
            </a:r>
            <a:endParaRPr lang="en-US" sz="10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6" name="Text 32"/>
          <p:cNvSpPr txBox="1"/>
          <p:nvPr/>
        </p:nvSpPr>
        <p:spPr>
          <a:xfrm>
            <a:off x="1447495" y="5447995"/>
            <a:ext cx="76261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50" b="1" kern="0" spc="114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03</a:t>
            </a:r>
            <a:endParaRPr lang="en-US" sz="28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7" name="Text 33"/>
          <p:cNvSpPr txBox="1"/>
          <p:nvPr/>
        </p:nvSpPr>
        <p:spPr>
          <a:xfrm>
            <a:off x="2286000" y="5447995"/>
            <a:ext cx="62865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TV 옆 별도 선반</a:t>
            </a:r>
            <a:endParaRPr lang="en-US" sz="22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9" name="Text 35"/>
          <p:cNvSpPr txBox="1"/>
          <p:nvPr/>
        </p:nvSpPr>
        <p:spPr>
          <a:xfrm>
            <a:off x="9639605" y="5447995"/>
            <a:ext cx="76261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50" b="1" kern="0" spc="114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04</a:t>
            </a:r>
            <a:endParaRPr lang="en-US" sz="28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0" name="Text 36"/>
          <p:cNvSpPr txBox="1"/>
          <p:nvPr/>
        </p:nvSpPr>
        <p:spPr>
          <a:xfrm>
            <a:off x="10477195" y="5447995"/>
            <a:ext cx="62865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벽걸이 TV </a:t>
            </a:r>
            <a:r>
              <a:rPr lang="ko-KR" altLang="en-US" sz="2250" b="1" dirty="0" err="1"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뒷</a:t>
            </a:r>
            <a:r>
              <a:rPr lang="en-US" sz="2250" b="1" dirty="0"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 공간</a:t>
            </a:r>
            <a:endParaRPr lang="en-US" sz="22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1" name="Text 37"/>
          <p:cNvSpPr txBox="1"/>
          <p:nvPr/>
        </p:nvSpPr>
        <p:spPr>
          <a:xfrm>
            <a:off x="1143000" y="7334402"/>
            <a:ext cx="45720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kern="0" spc="243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CHECK POINT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2" name="Text 38"/>
          <p:cNvSpPr txBox="1"/>
          <p:nvPr/>
        </p:nvSpPr>
        <p:spPr>
          <a:xfrm>
            <a:off x="1410005" y="7848295"/>
            <a:ext cx="2095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본체 크기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3" name="Text 39"/>
          <p:cNvSpPr txBox="1"/>
          <p:nvPr/>
        </p:nvSpPr>
        <p:spPr>
          <a:xfrm>
            <a:off x="4019702" y="7848295"/>
            <a:ext cx="2095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설치 방향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4" name="Text 40"/>
          <p:cNvSpPr txBox="1"/>
          <p:nvPr/>
        </p:nvSpPr>
        <p:spPr>
          <a:xfrm>
            <a:off x="6629400" y="7848295"/>
            <a:ext cx="2095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통풍 공간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5" name="Text 41"/>
          <p:cNvSpPr txBox="1"/>
          <p:nvPr/>
        </p:nvSpPr>
        <p:spPr>
          <a:xfrm>
            <a:off x="9239098" y="7848295"/>
            <a:ext cx="1905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HDMI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6" name="Text 42"/>
          <p:cNvSpPr txBox="1"/>
          <p:nvPr/>
        </p:nvSpPr>
        <p:spPr>
          <a:xfrm>
            <a:off x="11658600" y="7848295"/>
            <a:ext cx="1905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전원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7" name="Text 43"/>
          <p:cNvSpPr txBox="1"/>
          <p:nvPr/>
        </p:nvSpPr>
        <p:spPr>
          <a:xfrm>
            <a:off x="14078102" y="7848295"/>
            <a:ext cx="1905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인터넷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8" name="Text 44"/>
          <p:cNvSpPr txBox="1"/>
          <p:nvPr/>
        </p:nvSpPr>
        <p:spPr>
          <a:xfrm>
            <a:off x="1395132" y="8762695"/>
            <a:ext cx="8001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컨트롤러 사용 공간</a:t>
            </a:r>
            <a:endParaRPr lang="en-US" sz="2000" dirty="0">
              <a:solidFill>
                <a:srgbClr val="A50034"/>
              </a:solidFill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9" name="Text 45"/>
          <p:cNvSpPr txBox="1"/>
          <p:nvPr/>
        </p:nvSpPr>
        <p:spPr>
          <a:xfrm>
            <a:off x="1428750" y="9282391"/>
            <a:ext cx="8001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수납 위치에서 손 닿는 거리, 조작 여유</a:t>
            </a:r>
            <a:endParaRPr lang="en-US" sz="20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50" name="Text 46"/>
          <p:cNvSpPr txBox="1"/>
          <p:nvPr/>
        </p:nvSpPr>
        <p:spPr>
          <a:xfrm>
            <a:off x="10039198" y="8856519"/>
            <a:ext cx="74295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kern="0" spc="243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CORE</a:t>
            </a:r>
            <a:endParaRPr lang="en-US" sz="24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51" name="Text 47"/>
          <p:cNvSpPr txBox="1"/>
          <p:nvPr/>
        </p:nvSpPr>
        <p:spPr>
          <a:xfrm>
            <a:off x="10020910" y="9296705"/>
            <a:ext cx="7429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"보이지 않게"보다 </a:t>
            </a:r>
            <a:r>
              <a:rPr lang="en-US" sz="2000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열이 빠지고 쉽게 꺼낼 수 있게</a:t>
            </a:r>
            <a:r>
              <a:rPr lang="en-US" sz="20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가 중요합니다.</a:t>
            </a:r>
            <a:endParaRPr lang="en-US" sz="20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pic>
        <p:nvPicPr>
          <p:cNvPr id="9218" name="Picture 2" descr="가평벽걸이티비설치,  65인치 TV, 플레이스테이션4까지 깔끔 시공!">
            <a:extLst>
              <a:ext uri="{FF2B5EF4-FFF2-40B4-BE49-F238E27FC236}">
                <a16:creationId xmlns:a16="http://schemas.microsoft.com/office/drawing/2014/main" id="{FD5EF7AD-C1A3-4A05-B9AE-D5D8DD8B09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27" r="18800"/>
          <a:stretch/>
        </p:blipFill>
        <p:spPr bwMode="auto">
          <a:xfrm>
            <a:off x="12611405" y="5374329"/>
            <a:ext cx="4227270" cy="1538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PS5 플레이스테이션 5 플스 1일 렌탈 대여">
            <a:extLst>
              <a:ext uri="{FF2B5EF4-FFF2-40B4-BE49-F238E27FC236}">
                <a16:creationId xmlns:a16="http://schemas.microsoft.com/office/drawing/2014/main" id="{8A0800D3-D51F-4AA9-A5FD-CB7B79D532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9025" y="5329138"/>
            <a:ext cx="4236180" cy="1660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플레이스테이션5 개봉 PS PLUS 가입 할인 확인 필수!">
            <a:extLst>
              <a:ext uri="{FF2B5EF4-FFF2-40B4-BE49-F238E27FC236}">
                <a16:creationId xmlns:a16="http://schemas.microsoft.com/office/drawing/2014/main" id="{EE4E67F8-18C3-4283-9981-088AA0B11A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9025" y="3361383"/>
            <a:ext cx="4236179" cy="1532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4" name="Picture 8" descr="KQ85LSB03AFXKR 삼성 프레임tv 85인치, 반매립박스 돌출부위 문제. PS 플스5 쿨러 설치기">
            <a:extLst>
              <a:ext uri="{FF2B5EF4-FFF2-40B4-BE49-F238E27FC236}">
                <a16:creationId xmlns:a16="http://schemas.microsoft.com/office/drawing/2014/main" id="{08C843B1-3BEF-408D-83BD-1D1680C86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11405" y="3361383"/>
            <a:ext cx="4227270" cy="1532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1">
            <a:extLst>
              <a:ext uri="{FF2B5EF4-FFF2-40B4-BE49-F238E27FC236}">
                <a16:creationId xmlns:a16="http://schemas.microsoft.com/office/drawing/2014/main" id="{245E868E-BBA3-4BC1-91B8-C38FC0C045EE}"/>
              </a:ext>
            </a:extLst>
          </p:cNvPr>
          <p:cNvSpPr/>
          <p:nvPr/>
        </p:nvSpPr>
        <p:spPr>
          <a:xfrm>
            <a:off x="11965889" y="3810305"/>
            <a:ext cx="5143500" cy="3238805"/>
          </a:xfrm>
          <a:prstGeom prst="roundRect">
            <a:avLst>
              <a:gd name="adj" fmla="val 1779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52" name="Shape 8">
            <a:extLst>
              <a:ext uri="{FF2B5EF4-FFF2-40B4-BE49-F238E27FC236}">
                <a16:creationId xmlns:a16="http://schemas.microsoft.com/office/drawing/2014/main" id="{173B9BDD-81C8-467F-BDEB-0A7551C29D91}"/>
              </a:ext>
            </a:extLst>
          </p:cNvPr>
          <p:cNvSpPr/>
          <p:nvPr/>
        </p:nvSpPr>
        <p:spPr>
          <a:xfrm>
            <a:off x="7719337" y="7792059"/>
            <a:ext cx="1904695" cy="609905"/>
          </a:xfrm>
          <a:prstGeom prst="roundRect">
            <a:avLst>
              <a:gd name="adj" fmla="val 9445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pic>
        <p:nvPicPr>
          <p:cNvPr id="51" name="Image 1" descr="gen-dedup-9d2dc3fd15bc6cd98e0d32f178fe9eaa.png">
            <a:extLst>
              <a:ext uri="{FF2B5EF4-FFF2-40B4-BE49-F238E27FC236}">
                <a16:creationId xmlns:a16="http://schemas.microsoft.com/office/drawing/2014/main" id="{B823D279-B794-402C-916B-13D4C2EAD4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5" b="-15"/>
          <a:stretch/>
        </p:blipFill>
        <p:spPr>
          <a:xfrm>
            <a:off x="1130385" y="8820303"/>
            <a:ext cx="12734852" cy="893338"/>
          </a:xfrm>
          <a:prstGeom prst="rect">
            <a:avLst/>
          </a:prstGeom>
        </p:spPr>
      </p:pic>
      <p:pic>
        <p:nvPicPr>
          <p:cNvPr id="2" name="Image 0" descr="gen-dedup-fd577a1a8bd1a83f01ff41637a147eb7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1143000" y="761695"/>
            <a:ext cx="571500" cy="1920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3829507"/>
            <a:ext cx="5143500" cy="3238805"/>
          </a:xfrm>
          <a:prstGeom prst="roundRect">
            <a:avLst>
              <a:gd name="adj" fmla="val 1779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572707" y="3829507"/>
            <a:ext cx="5143500" cy="3238805"/>
          </a:xfrm>
          <a:prstGeom prst="roundRect">
            <a:avLst>
              <a:gd name="adj" fmla="val 1779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43000" y="7791602"/>
            <a:ext cx="1179468" cy="609905"/>
          </a:xfrm>
          <a:prstGeom prst="roundRect">
            <a:avLst>
              <a:gd name="adj" fmla="val 9445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436769" y="7778154"/>
            <a:ext cx="1524306" cy="609905"/>
          </a:xfrm>
          <a:prstGeom prst="roundRect">
            <a:avLst>
              <a:gd name="adj" fmla="val 9445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072427" y="7781946"/>
            <a:ext cx="1560773" cy="609905"/>
          </a:xfrm>
          <a:prstGeom prst="roundRect">
            <a:avLst>
              <a:gd name="adj" fmla="val 9445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723921" y="7791602"/>
            <a:ext cx="1904695" cy="609905"/>
          </a:xfrm>
          <a:prstGeom prst="roundRect">
            <a:avLst>
              <a:gd name="adj" fmla="val 9445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780740" y="7791602"/>
            <a:ext cx="1904695" cy="609905"/>
          </a:xfrm>
          <a:prstGeom prst="roundRect">
            <a:avLst>
              <a:gd name="adj" fmla="val 9445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806922" y="7791602"/>
            <a:ext cx="2171700" cy="609905"/>
          </a:xfrm>
          <a:prstGeom prst="roundRect">
            <a:avLst>
              <a:gd name="adj" fmla="val 9445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4132242" y="7790549"/>
            <a:ext cx="2667305" cy="609905"/>
          </a:xfrm>
          <a:prstGeom prst="roundRect">
            <a:avLst>
              <a:gd name="adj" fmla="val 9445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43000" y="914400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kern="0" spc="243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APPENDIX </a:t>
            </a:r>
            <a:r>
              <a:rPr lang="en-US" sz="1350" b="1" kern="0" spc="243" dirty="0">
                <a:solidFill>
                  <a:srgbClr val="B5AFA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/ 사운드바 3가지 설치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8" name="Text 25"/>
          <p:cNvSpPr txBox="1"/>
          <p:nvPr/>
        </p:nvSpPr>
        <p:spPr>
          <a:xfrm>
            <a:off x="1143000" y="1524305"/>
            <a:ext cx="14097305" cy="648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050" kern="0" spc="-81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TV와 사운드바,</a:t>
            </a:r>
            <a:endParaRPr lang="en-US" sz="40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9" name="Text 26"/>
          <p:cNvSpPr txBox="1"/>
          <p:nvPr/>
        </p:nvSpPr>
        <p:spPr>
          <a:xfrm>
            <a:off x="1143000" y="2171700"/>
            <a:ext cx="14097305" cy="648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050" b="1" kern="0" spc="-81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처음부터 함께 설계하세요</a:t>
            </a:r>
            <a:endParaRPr lang="en-US" sz="40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0" name="Text 27"/>
          <p:cNvSpPr txBox="1"/>
          <p:nvPr/>
        </p:nvSpPr>
        <p:spPr>
          <a:xfrm>
            <a:off x="1143000" y="3276295"/>
            <a:ext cx="12192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3A3A38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사운드바는 TV 설치 단계부터 </a:t>
            </a:r>
            <a:r>
              <a:rPr lang="en-US" sz="165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위치·동선을 함께 계획</a:t>
            </a:r>
            <a:r>
              <a:rPr lang="en-US" sz="1650" dirty="0">
                <a:solidFill>
                  <a:srgbClr val="3A3A38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하는 것이 좋습니다.</a:t>
            </a:r>
            <a:endParaRPr lang="en-US" sz="16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1" name="Text 28"/>
          <p:cNvSpPr txBox="1"/>
          <p:nvPr/>
        </p:nvSpPr>
        <p:spPr>
          <a:xfrm>
            <a:off x="1447495" y="4095598"/>
            <a:ext cx="26673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kern="0" spc="243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OPTION · 01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2" name="Text 29"/>
          <p:cNvSpPr txBox="1"/>
          <p:nvPr/>
        </p:nvSpPr>
        <p:spPr>
          <a:xfrm>
            <a:off x="1447495" y="4438498"/>
            <a:ext cx="457200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24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TV장 위</a:t>
            </a:r>
            <a:endParaRPr lang="en-US" sz="24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3" name="Text 30"/>
          <p:cNvSpPr txBox="1"/>
          <p:nvPr/>
        </p:nvSpPr>
        <p:spPr>
          <a:xfrm>
            <a:off x="1447495" y="6782105"/>
            <a:ext cx="4572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가장 보편적 / TV장 폭 안에 배치</a:t>
            </a:r>
            <a:endParaRPr lang="en-US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4" name="Text 31"/>
          <p:cNvSpPr txBox="1"/>
          <p:nvPr/>
        </p:nvSpPr>
        <p:spPr>
          <a:xfrm>
            <a:off x="6877202" y="4095598"/>
            <a:ext cx="26673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kern="0" spc="243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OPTION · 02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5" name="Text 32"/>
          <p:cNvSpPr txBox="1"/>
          <p:nvPr/>
        </p:nvSpPr>
        <p:spPr>
          <a:xfrm>
            <a:off x="6877202" y="4438498"/>
            <a:ext cx="457200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24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벽걸이 TV 하단</a:t>
            </a:r>
            <a:endParaRPr lang="en-US" sz="24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6" name="Text 33"/>
          <p:cNvSpPr txBox="1"/>
          <p:nvPr/>
        </p:nvSpPr>
        <p:spPr>
          <a:xfrm>
            <a:off x="6877202" y="6782105"/>
            <a:ext cx="4572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6E6A6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벽걸이 TV 바로 아래 / 동선 정리 용이</a:t>
            </a:r>
            <a:endParaRPr lang="en-US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7" name="Text 34"/>
          <p:cNvSpPr txBox="1"/>
          <p:nvPr/>
        </p:nvSpPr>
        <p:spPr>
          <a:xfrm>
            <a:off x="12305995" y="4095598"/>
            <a:ext cx="26673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kern="0" spc="243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OPTION · 03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8" name="Text 35"/>
          <p:cNvSpPr txBox="1"/>
          <p:nvPr/>
        </p:nvSpPr>
        <p:spPr>
          <a:xfrm>
            <a:off x="12305995" y="4438498"/>
            <a:ext cx="457200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24" dirty="0"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TV + 사운드바 벽걸이</a:t>
            </a:r>
            <a:endParaRPr lang="en-US" sz="24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9" name="Text 36"/>
          <p:cNvSpPr txBox="1"/>
          <p:nvPr/>
        </p:nvSpPr>
        <p:spPr>
          <a:xfrm>
            <a:off x="12305995" y="6782105"/>
            <a:ext cx="4572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B5AFA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벽에 일체화 / 가장 깔끔한 구성</a:t>
            </a:r>
            <a:endParaRPr lang="en-US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0" name="Text 37"/>
          <p:cNvSpPr txBox="1"/>
          <p:nvPr/>
        </p:nvSpPr>
        <p:spPr>
          <a:xfrm>
            <a:off x="1143000" y="7410298"/>
            <a:ext cx="45720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kern="0" spc="243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CHECK POINT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1" name="Text 38"/>
          <p:cNvSpPr txBox="1"/>
          <p:nvPr/>
        </p:nvSpPr>
        <p:spPr>
          <a:xfrm>
            <a:off x="1410005" y="7867498"/>
            <a:ext cx="1524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TV 크기</a:t>
            </a:r>
            <a:endParaRPr lang="en-US" sz="20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2" name="Text 39"/>
          <p:cNvSpPr txBox="1"/>
          <p:nvPr/>
        </p:nvSpPr>
        <p:spPr>
          <a:xfrm>
            <a:off x="2551069" y="7867498"/>
            <a:ext cx="1524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사운드바 길이</a:t>
            </a:r>
            <a:endParaRPr lang="en-US" sz="20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3" name="Text 40"/>
          <p:cNvSpPr txBox="1"/>
          <p:nvPr/>
        </p:nvSpPr>
        <p:spPr>
          <a:xfrm>
            <a:off x="4265877" y="7866444"/>
            <a:ext cx="1905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TV·바 간격</a:t>
            </a:r>
            <a:endParaRPr lang="en-US" sz="20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4" name="Text 41"/>
          <p:cNvSpPr txBox="1"/>
          <p:nvPr/>
        </p:nvSpPr>
        <p:spPr>
          <a:xfrm>
            <a:off x="5990011" y="7867498"/>
            <a:ext cx="1524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벽걸이 여부</a:t>
            </a:r>
            <a:endParaRPr lang="en-US" sz="20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5" name="Text 42"/>
          <p:cNvSpPr txBox="1"/>
          <p:nvPr/>
        </p:nvSpPr>
        <p:spPr>
          <a:xfrm>
            <a:off x="7947022" y="7877611"/>
            <a:ext cx="1905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HDMI eARC</a:t>
            </a:r>
            <a:endParaRPr lang="en-US" sz="20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6" name="Text 43"/>
          <p:cNvSpPr txBox="1"/>
          <p:nvPr/>
        </p:nvSpPr>
        <p:spPr>
          <a:xfrm>
            <a:off x="10047745" y="7867498"/>
            <a:ext cx="1524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전원</a:t>
            </a:r>
            <a:endParaRPr lang="en-US" sz="20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7" name="Text 44"/>
          <p:cNvSpPr txBox="1"/>
          <p:nvPr/>
        </p:nvSpPr>
        <p:spPr>
          <a:xfrm>
            <a:off x="12073927" y="7867498"/>
            <a:ext cx="17913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케이블 정리</a:t>
            </a:r>
            <a:endParaRPr lang="en-US" sz="20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8" name="Text 45"/>
          <p:cNvSpPr txBox="1"/>
          <p:nvPr/>
        </p:nvSpPr>
        <p:spPr>
          <a:xfrm>
            <a:off x="14399247" y="7866444"/>
            <a:ext cx="2286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TV장 높이</a:t>
            </a:r>
            <a:endParaRPr lang="en-US" sz="20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9" name="Text 46"/>
          <p:cNvSpPr txBox="1"/>
          <p:nvPr/>
        </p:nvSpPr>
        <p:spPr>
          <a:xfrm>
            <a:off x="14399247" y="8151737"/>
            <a:ext cx="2286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E988C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바닥에서 시선까지 거리</a:t>
            </a:r>
            <a:endParaRPr lang="en-US" sz="16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50" name="Text 47"/>
          <p:cNvSpPr txBox="1"/>
          <p:nvPr/>
        </p:nvSpPr>
        <p:spPr>
          <a:xfrm>
            <a:off x="1325691" y="8952891"/>
            <a:ext cx="11341403" cy="4197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사운드바는 TV 설치 후 추가하는 것이 아니라 </a:t>
            </a:r>
            <a:r>
              <a:rPr lang="en-US" sz="2400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TV 설치 단계부터 위치를 함께 계획</a:t>
            </a:r>
            <a:r>
              <a:rPr lang="en-US" sz="2400" dirty="0"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하면 완성도가 높아집니다.</a:t>
            </a:r>
            <a:endParaRPr lang="en-US" sz="24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pic>
        <p:nvPicPr>
          <p:cNvPr id="10242" name="Picture 2" descr="서초 강남 82인치 TV이전설치 후 반매립 벽걸이 티비 설치까지 완벽시공 후기">
            <a:extLst>
              <a:ext uri="{FF2B5EF4-FFF2-40B4-BE49-F238E27FC236}">
                <a16:creationId xmlns:a16="http://schemas.microsoft.com/office/drawing/2014/main" id="{A77C6822-6C6B-4D1D-A2BF-61948972A5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5996" y="4907281"/>
            <a:ext cx="4247334" cy="1772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부평구 산곡, 삼산동 (TV)벽걸이티비설치 무타공 사운드바까지">
            <a:extLst>
              <a:ext uri="{FF2B5EF4-FFF2-40B4-BE49-F238E27FC236}">
                <a16:creationId xmlns:a16="http://schemas.microsoft.com/office/drawing/2014/main" id="{E24443E7-7EB4-4D44-9C9F-7934820A78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7705" y="4877409"/>
            <a:ext cx="4038883" cy="1802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8" name="Picture 8" descr="75SM9070 구매후기 입니다.">
            <a:extLst>
              <a:ext uri="{FF2B5EF4-FFF2-40B4-BE49-F238E27FC236}">
                <a16:creationId xmlns:a16="http://schemas.microsoft.com/office/drawing/2014/main" id="{C2858E51-40F3-4740-B92D-173A069E15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57" r="30146"/>
          <a:stretch/>
        </p:blipFill>
        <p:spPr bwMode="auto">
          <a:xfrm>
            <a:off x="1410005" y="4894088"/>
            <a:ext cx="4609490" cy="1664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3">
            <a:extLst>
              <a:ext uri="{FF2B5EF4-FFF2-40B4-BE49-F238E27FC236}">
                <a16:creationId xmlns:a16="http://schemas.microsoft.com/office/drawing/2014/main" id="{6636E177-D1E2-4632-9BAB-864CB0CA0407}"/>
              </a:ext>
            </a:extLst>
          </p:cNvPr>
          <p:cNvSpPr/>
          <p:nvPr/>
        </p:nvSpPr>
        <p:spPr>
          <a:xfrm>
            <a:off x="13791895" y="7581290"/>
            <a:ext cx="1714500" cy="762610"/>
          </a:xfrm>
          <a:prstGeom prst="roundRect">
            <a:avLst>
              <a:gd name="adj" fmla="val 9445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55" name="Shape 3">
            <a:extLst>
              <a:ext uri="{FF2B5EF4-FFF2-40B4-BE49-F238E27FC236}">
                <a16:creationId xmlns:a16="http://schemas.microsoft.com/office/drawing/2014/main" id="{00BC5C2D-7D9A-4590-A732-F87EC968F533}"/>
              </a:ext>
            </a:extLst>
          </p:cNvPr>
          <p:cNvSpPr/>
          <p:nvPr/>
        </p:nvSpPr>
        <p:spPr>
          <a:xfrm>
            <a:off x="1123798" y="7591833"/>
            <a:ext cx="1714500" cy="742493"/>
          </a:xfrm>
          <a:prstGeom prst="roundRect">
            <a:avLst>
              <a:gd name="adj" fmla="val 9445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pic>
        <p:nvPicPr>
          <p:cNvPr id="2" name="Image 0" descr="gen-dedup-fd577a1a8bd1a83f01ff41637a147eb7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1143000" y="761695"/>
            <a:ext cx="571500" cy="1920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2876702"/>
            <a:ext cx="8382305" cy="4095598"/>
          </a:xfrm>
          <a:prstGeom prst="roundRect">
            <a:avLst>
              <a:gd name="adj" fmla="val 1407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971800" y="7601407"/>
            <a:ext cx="1714500" cy="732919"/>
          </a:xfrm>
          <a:prstGeom prst="roundRect">
            <a:avLst>
              <a:gd name="adj" fmla="val 9445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800600" y="7601407"/>
            <a:ext cx="1524305" cy="732919"/>
          </a:xfrm>
          <a:prstGeom prst="roundRect">
            <a:avLst>
              <a:gd name="adj" fmla="val 9445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39205" y="7601407"/>
            <a:ext cx="1714500" cy="742493"/>
          </a:xfrm>
          <a:prstGeom prst="roundRect">
            <a:avLst>
              <a:gd name="adj" fmla="val 9445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68005" y="7601407"/>
            <a:ext cx="1714500" cy="742493"/>
          </a:xfrm>
          <a:prstGeom prst="roundRect">
            <a:avLst>
              <a:gd name="adj" fmla="val 9445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96805" y="7601407"/>
            <a:ext cx="1714500" cy="781812"/>
          </a:xfrm>
          <a:prstGeom prst="roundRect">
            <a:avLst>
              <a:gd name="adj" fmla="val 9445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925605" y="7601407"/>
            <a:ext cx="1714500" cy="742493"/>
          </a:xfrm>
          <a:prstGeom prst="roundRect">
            <a:avLst>
              <a:gd name="adj" fmla="val 9445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pic>
        <p:nvPicPr>
          <p:cNvPr id="13" name="Image 1" descr="gen-dedup-7d64856428c263a9afc5514a072761d2.png"/>
          <p:cNvPicPr>
            <a:picLocks noChangeAspect="1"/>
          </p:cNvPicPr>
          <p:nvPr/>
        </p:nvPicPr>
        <p:blipFill>
          <a:blip r:embed="rId4"/>
          <a:srcRect l="-13" r="-13"/>
          <a:stretch/>
        </p:blipFill>
        <p:spPr>
          <a:xfrm>
            <a:off x="1143000" y="8496605"/>
            <a:ext cx="16002000" cy="1218895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333195" y="3066898"/>
            <a:ext cx="8001000" cy="3715207"/>
          </a:xfrm>
          <a:prstGeom prst="roundRect">
            <a:avLst>
              <a:gd name="adj" fmla="val 1034"/>
            </a:avLst>
          </a:prstGeom>
          <a:solidFill>
            <a:srgbClr val="EEEA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3" descr="gen-dedup-0fd490c6f7d529a68ee8814333b05347.png"/>
          <p:cNvPicPr>
            <a:picLocks noChangeAspect="1"/>
          </p:cNvPicPr>
          <p:nvPr/>
        </p:nvPicPr>
        <p:blipFill>
          <a:blip r:embed="rId5"/>
          <a:srcRect l="-375" r="-375"/>
          <a:stretch/>
        </p:blipFill>
        <p:spPr>
          <a:xfrm>
            <a:off x="10077602" y="7601407"/>
            <a:ext cx="19202" cy="609905"/>
          </a:xfrm>
          <a:prstGeom prst="rect">
            <a:avLst/>
          </a:prstGeom>
        </p:spPr>
      </p:pic>
      <p:sp>
        <p:nvSpPr>
          <p:cNvPr id="26" name="Text 14"/>
          <p:cNvSpPr txBox="1"/>
          <p:nvPr/>
        </p:nvSpPr>
        <p:spPr>
          <a:xfrm>
            <a:off x="1143000" y="914400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kern="0" spc="243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APPENDIX </a:t>
            </a:r>
            <a:r>
              <a:rPr lang="en-US" sz="1350" b="1" kern="0" spc="243" dirty="0">
                <a:solidFill>
                  <a:srgbClr val="B5AFA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/ 주변기기 통합 설치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8" name="Text 16"/>
          <p:cNvSpPr txBox="1"/>
          <p:nvPr/>
        </p:nvSpPr>
        <p:spPr>
          <a:xfrm>
            <a:off x="1143000" y="1524305"/>
            <a:ext cx="14097305" cy="648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050" kern="0" spc="-81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반매립 TV라면</a:t>
            </a:r>
            <a:endParaRPr lang="en-US" sz="40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9" name="Text 17"/>
          <p:cNvSpPr txBox="1"/>
          <p:nvPr/>
        </p:nvSpPr>
        <p:spPr>
          <a:xfrm>
            <a:off x="1143000" y="2171700"/>
            <a:ext cx="14097305" cy="648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050" b="1" kern="0" spc="-81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주변기기까지 한 번에 설계하세요</a:t>
            </a:r>
            <a:endParaRPr lang="en-US" sz="40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0" name="Text 18"/>
          <p:cNvSpPr txBox="1"/>
          <p:nvPr/>
        </p:nvSpPr>
        <p:spPr>
          <a:xfrm>
            <a:off x="1524305" y="3161995"/>
            <a:ext cx="1524305" cy="342900"/>
          </a:xfrm>
          <a:prstGeom prst="rect">
            <a:avLst/>
          </a:prstGeom>
          <a:solidFill>
            <a:srgbClr val="1A1A1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76200" rIns="139700" bIns="76200" rtlCol="0" anchor="ctr"/>
          <a:lstStyle/>
          <a:p>
            <a:pPr marL="0" indent="0" algn="l">
              <a:buNone/>
            </a:pPr>
            <a:r>
              <a:rPr lang="ko-KR" altLang="en-US" sz="1400" kern="0" spc="168" dirty="0" err="1">
                <a:solidFill>
                  <a:srgbClr val="FFFFFF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</a:rPr>
              <a:t>반매립</a:t>
            </a:r>
            <a:r>
              <a:rPr lang="ko-KR" altLang="en-US" sz="1400" kern="0" spc="168" dirty="0">
                <a:solidFill>
                  <a:srgbClr val="FFFFFF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</a:rPr>
              <a:t> 설치 내부</a:t>
            </a:r>
            <a:endParaRPr lang="en-US" sz="14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1" name="Text 19"/>
          <p:cNvSpPr txBox="1"/>
          <p:nvPr/>
        </p:nvSpPr>
        <p:spPr>
          <a:xfrm>
            <a:off x="1524305" y="3600907"/>
            <a:ext cx="5715000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ko-KR" altLang="en-US" sz="2850" dirty="0" err="1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</a:rPr>
              <a:t>플스</a:t>
            </a:r>
            <a:r>
              <a:rPr lang="en-US" altLang="ko-KR" sz="285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</a:rPr>
              <a:t>,</a:t>
            </a:r>
            <a:endParaRPr lang="en-US" sz="28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2" name="Text 20"/>
          <p:cNvSpPr txBox="1"/>
          <p:nvPr/>
        </p:nvSpPr>
        <p:spPr>
          <a:xfrm>
            <a:off x="1524305" y="4114800"/>
            <a:ext cx="5715000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50" b="1" dirty="0" err="1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깔끔한</a:t>
            </a:r>
            <a:r>
              <a:rPr lang="en-US" sz="2850" b="1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 </a:t>
            </a:r>
            <a:r>
              <a:rPr lang="ko-KR" altLang="en-US" sz="2850" b="1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내부</a:t>
            </a:r>
            <a:endParaRPr lang="en-US" sz="28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6" name="Text 24"/>
          <p:cNvSpPr txBox="1"/>
          <p:nvPr/>
        </p:nvSpPr>
        <p:spPr>
          <a:xfrm>
            <a:off x="1143000" y="7239305"/>
            <a:ext cx="5143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kern="0" spc="243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설계 순서</a:t>
            </a:r>
            <a:endParaRPr lang="en-US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7" name="Text 25"/>
          <p:cNvSpPr txBox="1"/>
          <p:nvPr/>
        </p:nvSpPr>
        <p:spPr>
          <a:xfrm>
            <a:off x="1410005" y="7733995"/>
            <a:ext cx="1334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126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STEP 01</a:t>
            </a:r>
            <a:endParaRPr lang="en-US" sz="11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8" name="Text 26"/>
          <p:cNvSpPr txBox="1"/>
          <p:nvPr/>
        </p:nvSpPr>
        <p:spPr>
          <a:xfrm>
            <a:off x="1410005" y="7934249"/>
            <a:ext cx="1334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TV 모델</a:t>
            </a:r>
            <a:endParaRPr lang="en-US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9" name="Text 27"/>
          <p:cNvSpPr txBox="1"/>
          <p:nvPr/>
        </p:nvSpPr>
        <p:spPr>
          <a:xfrm>
            <a:off x="3238805" y="7733995"/>
            <a:ext cx="1334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126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STEP 02</a:t>
            </a:r>
            <a:endParaRPr lang="en-US" sz="11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0" name="Text 28"/>
          <p:cNvSpPr txBox="1"/>
          <p:nvPr/>
        </p:nvSpPr>
        <p:spPr>
          <a:xfrm>
            <a:off x="3238805" y="7934249"/>
            <a:ext cx="1334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TV 후면 구조</a:t>
            </a:r>
            <a:endParaRPr lang="en-US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1" name="Text 29"/>
          <p:cNvSpPr txBox="1"/>
          <p:nvPr/>
        </p:nvSpPr>
        <p:spPr>
          <a:xfrm>
            <a:off x="5067605" y="7733995"/>
            <a:ext cx="1143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126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STEP 03</a:t>
            </a:r>
            <a:endParaRPr lang="en-US" sz="11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2" name="Text 30"/>
          <p:cNvSpPr txBox="1"/>
          <p:nvPr/>
        </p:nvSpPr>
        <p:spPr>
          <a:xfrm>
            <a:off x="5067605" y="7934249"/>
            <a:ext cx="1143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브라켓</a:t>
            </a:r>
            <a:endParaRPr lang="en-US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3" name="Text 31"/>
          <p:cNvSpPr txBox="1"/>
          <p:nvPr/>
        </p:nvSpPr>
        <p:spPr>
          <a:xfrm>
            <a:off x="6705295" y="7733995"/>
            <a:ext cx="1334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126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STEP 04</a:t>
            </a:r>
            <a:endParaRPr lang="en-US" sz="11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4" name="Text 32"/>
          <p:cNvSpPr txBox="1"/>
          <p:nvPr/>
        </p:nvSpPr>
        <p:spPr>
          <a:xfrm>
            <a:off x="6705295" y="7934249"/>
            <a:ext cx="1334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반매립 공간</a:t>
            </a:r>
            <a:endParaRPr lang="en-US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5" name="Text 33"/>
          <p:cNvSpPr txBox="1"/>
          <p:nvPr/>
        </p:nvSpPr>
        <p:spPr>
          <a:xfrm>
            <a:off x="8534095" y="7733995"/>
            <a:ext cx="1334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126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STEP 05</a:t>
            </a:r>
            <a:endParaRPr lang="en-US" sz="11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6" name="Text 34"/>
          <p:cNvSpPr txBox="1"/>
          <p:nvPr/>
        </p:nvSpPr>
        <p:spPr>
          <a:xfrm>
            <a:off x="8534095" y="7934249"/>
            <a:ext cx="1334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셋톱박스</a:t>
            </a:r>
            <a:endParaRPr lang="en-US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7" name="Text 35"/>
          <p:cNvSpPr txBox="1"/>
          <p:nvPr/>
        </p:nvSpPr>
        <p:spPr>
          <a:xfrm>
            <a:off x="10362895" y="7733995"/>
            <a:ext cx="1334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126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STEP 06</a:t>
            </a:r>
            <a:endParaRPr lang="en-US" sz="11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8" name="Text 36"/>
          <p:cNvSpPr txBox="1"/>
          <p:nvPr/>
        </p:nvSpPr>
        <p:spPr>
          <a:xfrm>
            <a:off x="10362895" y="7934249"/>
            <a:ext cx="1334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PlayStation</a:t>
            </a:r>
            <a:endParaRPr lang="en-US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9" name="Text 37"/>
          <p:cNvSpPr txBox="1"/>
          <p:nvPr/>
        </p:nvSpPr>
        <p:spPr>
          <a:xfrm>
            <a:off x="12191695" y="7733995"/>
            <a:ext cx="1334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126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STEP 07</a:t>
            </a:r>
            <a:endParaRPr lang="en-US" sz="11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50" name="Text 38"/>
          <p:cNvSpPr txBox="1"/>
          <p:nvPr/>
        </p:nvSpPr>
        <p:spPr>
          <a:xfrm>
            <a:off x="12191695" y="7934249"/>
            <a:ext cx="1334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사운드바</a:t>
            </a:r>
            <a:endParaRPr lang="en-US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51" name="Text 39"/>
          <p:cNvSpPr txBox="1"/>
          <p:nvPr/>
        </p:nvSpPr>
        <p:spPr>
          <a:xfrm>
            <a:off x="14020495" y="7733995"/>
            <a:ext cx="1905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kern="0" spc="126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STEP 08</a:t>
            </a:r>
            <a:endParaRPr lang="en-US" sz="11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52" name="Text 40"/>
          <p:cNvSpPr txBox="1"/>
          <p:nvPr/>
        </p:nvSpPr>
        <p:spPr>
          <a:xfrm>
            <a:off x="14020495" y="7934249"/>
            <a:ext cx="1905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전원 &amp; 케이블</a:t>
            </a:r>
            <a:endParaRPr lang="en-US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53" name="Text 41"/>
          <p:cNvSpPr txBox="1"/>
          <p:nvPr/>
        </p:nvSpPr>
        <p:spPr>
          <a:xfrm>
            <a:off x="1524305" y="8686800"/>
            <a:ext cx="1505011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kern="0" spc="243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EMPHASIS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54" name="Text 42"/>
          <p:cNvSpPr txBox="1"/>
          <p:nvPr/>
        </p:nvSpPr>
        <p:spPr>
          <a:xfrm>
            <a:off x="1524305" y="9010498"/>
            <a:ext cx="1505011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반매립은 TV만 매립하는 공사가 아닙니다.</a:t>
            </a:r>
            <a:endParaRPr lang="en-US" sz="22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pic>
        <p:nvPicPr>
          <p:cNvPr id="11266" name="Picture 2" descr="KQ85LSB03AFXKR 삼성 프레임tv 85인치, 반매립박스 돌출부위 문제. PS 플스5 쿨러 설치기">
            <a:extLst>
              <a:ext uri="{FF2B5EF4-FFF2-40B4-BE49-F238E27FC236}">
                <a16:creationId xmlns:a16="http://schemas.microsoft.com/office/drawing/2014/main" id="{8752A5E7-B1B2-41DF-89B3-FA9DE2E4FA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9110" y="3419857"/>
            <a:ext cx="5555266" cy="3115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" name="Shape 0">
            <a:extLst>
              <a:ext uri="{FF2B5EF4-FFF2-40B4-BE49-F238E27FC236}">
                <a16:creationId xmlns:a16="http://schemas.microsoft.com/office/drawing/2014/main" id="{5CDCE547-2F72-4D16-97ED-CA0A03E74DFE}"/>
              </a:ext>
            </a:extLst>
          </p:cNvPr>
          <p:cNvSpPr/>
          <p:nvPr/>
        </p:nvSpPr>
        <p:spPr>
          <a:xfrm>
            <a:off x="9715500" y="2886760"/>
            <a:ext cx="8382305" cy="4095598"/>
          </a:xfrm>
          <a:prstGeom prst="roundRect">
            <a:avLst>
              <a:gd name="adj" fmla="val 1407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59" name="Shape 10">
            <a:extLst>
              <a:ext uri="{FF2B5EF4-FFF2-40B4-BE49-F238E27FC236}">
                <a16:creationId xmlns:a16="http://schemas.microsoft.com/office/drawing/2014/main" id="{25B40FD0-6837-4E99-B6ED-28A019FBAB1B}"/>
              </a:ext>
            </a:extLst>
          </p:cNvPr>
          <p:cNvSpPr/>
          <p:nvPr/>
        </p:nvSpPr>
        <p:spPr>
          <a:xfrm>
            <a:off x="9905695" y="3076956"/>
            <a:ext cx="8001000" cy="3715207"/>
          </a:xfrm>
          <a:prstGeom prst="roundRect">
            <a:avLst>
              <a:gd name="adj" fmla="val 1034"/>
            </a:avLst>
          </a:prstGeom>
          <a:solidFill>
            <a:srgbClr val="EEEA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5710A49C-4C83-4276-A9CA-466B1C261A1B}"/>
              </a:ext>
            </a:extLst>
          </p:cNvPr>
          <p:cNvSpPr txBox="1"/>
          <p:nvPr/>
        </p:nvSpPr>
        <p:spPr>
          <a:xfrm>
            <a:off x="10096805" y="3172053"/>
            <a:ext cx="1524305" cy="342900"/>
          </a:xfrm>
          <a:prstGeom prst="rect">
            <a:avLst/>
          </a:prstGeom>
          <a:solidFill>
            <a:srgbClr val="1A1A1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76200" rIns="139700" bIns="76200" rtlCol="0" anchor="ctr"/>
          <a:lstStyle/>
          <a:p>
            <a:pPr marL="0" indent="0" algn="l">
              <a:buNone/>
            </a:pPr>
            <a:r>
              <a:rPr lang="ko-KR" altLang="en-US" sz="1400" kern="0" spc="168" dirty="0" err="1">
                <a:solidFill>
                  <a:srgbClr val="FFFFFF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</a:rPr>
              <a:t>반매립</a:t>
            </a:r>
            <a:r>
              <a:rPr lang="ko-KR" altLang="en-US" sz="1400" kern="0" spc="168" dirty="0">
                <a:solidFill>
                  <a:srgbClr val="FFFFFF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</a:rPr>
              <a:t> 설치 외부</a:t>
            </a:r>
            <a:endParaRPr lang="en-US" sz="14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61" name="Text 19">
            <a:extLst>
              <a:ext uri="{FF2B5EF4-FFF2-40B4-BE49-F238E27FC236}">
                <a16:creationId xmlns:a16="http://schemas.microsoft.com/office/drawing/2014/main" id="{9A07BD7B-E706-4D9F-9AE3-B3760D02675B}"/>
              </a:ext>
            </a:extLst>
          </p:cNvPr>
          <p:cNvSpPr txBox="1"/>
          <p:nvPr/>
        </p:nvSpPr>
        <p:spPr>
          <a:xfrm>
            <a:off x="10096805" y="3610965"/>
            <a:ext cx="5715000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5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TV +</a:t>
            </a:r>
            <a:endParaRPr lang="en-US" sz="28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62" name="Text 20">
            <a:extLst>
              <a:ext uri="{FF2B5EF4-FFF2-40B4-BE49-F238E27FC236}">
                <a16:creationId xmlns:a16="http://schemas.microsoft.com/office/drawing/2014/main" id="{6C5E3122-4D25-482C-8F0C-9C77FC2698D4}"/>
              </a:ext>
            </a:extLst>
          </p:cNvPr>
          <p:cNvSpPr txBox="1"/>
          <p:nvPr/>
        </p:nvSpPr>
        <p:spPr>
          <a:xfrm>
            <a:off x="10096805" y="4124858"/>
            <a:ext cx="5715000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깔끔한 벽</a:t>
            </a:r>
            <a:endParaRPr lang="en-US" sz="28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pic>
        <p:nvPicPr>
          <p:cNvPr id="11268" name="Picture 4" descr="대전 티비이전설치 전문 도안동 어울림하트 반매립 벽걸이티비 시공은 이렇게!!!">
            <a:extLst>
              <a:ext uri="{FF2B5EF4-FFF2-40B4-BE49-F238E27FC236}">
                <a16:creationId xmlns:a16="http://schemas.microsoft.com/office/drawing/2014/main" id="{6CC86502-E098-410B-9E8F-A615CAB60C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48" t="26677" r="26807" b="12441"/>
          <a:stretch/>
        </p:blipFill>
        <p:spPr bwMode="auto">
          <a:xfrm>
            <a:off x="11620764" y="3677232"/>
            <a:ext cx="2952996" cy="282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0" name="Picture 6" descr="대구벽걸이티비 반매립 설치 국우동 부영아파트">
            <a:extLst>
              <a:ext uri="{FF2B5EF4-FFF2-40B4-BE49-F238E27FC236}">
                <a16:creationId xmlns:a16="http://schemas.microsoft.com/office/drawing/2014/main" id="{AE8B4FB4-7DB1-4681-828B-1FDB74A93F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942"/>
          <a:stretch/>
        </p:blipFill>
        <p:spPr bwMode="auto">
          <a:xfrm>
            <a:off x="14764870" y="3677232"/>
            <a:ext cx="3030203" cy="282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Image 1" descr="gen-dedup-7d64856428c263a9afc5514a072761d2.png">
            <a:extLst>
              <a:ext uri="{FF2B5EF4-FFF2-40B4-BE49-F238E27FC236}">
                <a16:creationId xmlns:a16="http://schemas.microsoft.com/office/drawing/2014/main" id="{C0A75A39-60DA-4AD6-9143-6078B2CDC0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3" r="-13"/>
          <a:stretch/>
        </p:blipFill>
        <p:spPr>
          <a:xfrm>
            <a:off x="1161745" y="7435309"/>
            <a:ext cx="16002000" cy="1218895"/>
          </a:xfrm>
          <a:prstGeom prst="rect">
            <a:avLst/>
          </a:prstGeom>
        </p:spPr>
      </p:pic>
      <p:pic>
        <p:nvPicPr>
          <p:cNvPr id="76" name="Image 3" descr="gen-dedup-f60247eb39aee91a40982274d09a949a.png">
            <a:extLst>
              <a:ext uri="{FF2B5EF4-FFF2-40B4-BE49-F238E27FC236}">
                <a16:creationId xmlns:a16="http://schemas.microsoft.com/office/drawing/2014/main" id="{7C3D4C85-46F5-4596-A8F3-D751637799F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982757" y="2873771"/>
            <a:ext cx="5143500" cy="571500"/>
          </a:xfrm>
          <a:prstGeom prst="rect">
            <a:avLst/>
          </a:prstGeom>
        </p:spPr>
      </p:pic>
      <p:pic>
        <p:nvPicPr>
          <p:cNvPr id="75" name="Image 3" descr="gen-dedup-f60247eb39aee91a40982274d09a949a.png">
            <a:extLst>
              <a:ext uri="{FF2B5EF4-FFF2-40B4-BE49-F238E27FC236}">
                <a16:creationId xmlns:a16="http://schemas.microsoft.com/office/drawing/2014/main" id="{DF030371-9CBB-44E5-9729-CE0E1EB9F84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53049" y="2859330"/>
            <a:ext cx="5200647" cy="640078"/>
          </a:xfrm>
          <a:prstGeom prst="rect">
            <a:avLst/>
          </a:prstGeom>
        </p:spPr>
      </p:pic>
      <p:pic>
        <p:nvPicPr>
          <p:cNvPr id="74" name="Image 3" descr="gen-dedup-f60247eb39aee91a40982274d09a949a.png">
            <a:extLst>
              <a:ext uri="{FF2B5EF4-FFF2-40B4-BE49-F238E27FC236}">
                <a16:creationId xmlns:a16="http://schemas.microsoft.com/office/drawing/2014/main" id="{86B8A387-54E4-414F-93EC-E0289A82AF3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61745" y="2868930"/>
            <a:ext cx="5143500" cy="571500"/>
          </a:xfrm>
          <a:prstGeom prst="rect">
            <a:avLst/>
          </a:prstGeom>
        </p:spPr>
      </p:pic>
      <p:pic>
        <p:nvPicPr>
          <p:cNvPr id="2" name="Image 0" descr="gen-dedup-fd577a1a8bd1a83f01ff41637a147eb7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1143000" y="761695"/>
            <a:ext cx="571500" cy="1920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3440430"/>
            <a:ext cx="5143500" cy="3417570"/>
          </a:xfrm>
          <a:prstGeom prst="roundRect">
            <a:avLst>
              <a:gd name="adj" fmla="val 1440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553049" y="3468320"/>
            <a:ext cx="5163158" cy="3389680"/>
          </a:xfrm>
          <a:prstGeom prst="roundRect">
            <a:avLst>
              <a:gd name="adj" fmla="val 1440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001500" y="3440430"/>
            <a:ext cx="5143500" cy="3417570"/>
          </a:xfrm>
          <a:prstGeom prst="roundRect">
            <a:avLst>
              <a:gd name="adj" fmla="val 1440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43000" y="9029700"/>
            <a:ext cx="16002000" cy="761695"/>
          </a:xfrm>
          <a:prstGeom prst="roundRect">
            <a:avLst>
              <a:gd name="adj" fmla="val 7563"/>
            </a:avLst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</p:spPr>
      </p:sp>
      <p:sp>
        <p:nvSpPr>
          <p:cNvPr id="12" name="Shape 6"/>
          <p:cNvSpPr/>
          <p:nvPr/>
        </p:nvSpPr>
        <p:spPr>
          <a:xfrm>
            <a:off x="1485900" y="3619195"/>
            <a:ext cx="209398" cy="209398"/>
          </a:xfrm>
          <a:prstGeom prst="roundRect">
            <a:avLst>
              <a:gd name="adj" fmla="val 13537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1485900" y="4095598"/>
            <a:ext cx="209398" cy="209398"/>
          </a:xfrm>
          <a:prstGeom prst="roundRect">
            <a:avLst>
              <a:gd name="adj" fmla="val 13537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1485900" y="4572000"/>
            <a:ext cx="209398" cy="209398"/>
          </a:xfrm>
          <a:prstGeom prst="roundRect">
            <a:avLst>
              <a:gd name="adj" fmla="val 13537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485900" y="5048402"/>
            <a:ext cx="209398" cy="209398"/>
          </a:xfrm>
          <a:prstGeom prst="roundRect">
            <a:avLst>
              <a:gd name="adj" fmla="val 13537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1485900" y="5524805"/>
            <a:ext cx="209398" cy="209398"/>
          </a:xfrm>
          <a:prstGeom prst="roundRect">
            <a:avLst>
              <a:gd name="adj" fmla="val 13537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6915607" y="3619195"/>
            <a:ext cx="209398" cy="209398"/>
          </a:xfrm>
          <a:prstGeom prst="roundRect">
            <a:avLst>
              <a:gd name="adj" fmla="val 13537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9010498" y="3619195"/>
            <a:ext cx="209398" cy="209398"/>
          </a:xfrm>
          <a:prstGeom prst="roundRect">
            <a:avLst>
              <a:gd name="adj" fmla="val 13537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915607" y="3981298"/>
            <a:ext cx="209398" cy="209398"/>
          </a:xfrm>
          <a:prstGeom prst="roundRect">
            <a:avLst>
              <a:gd name="adj" fmla="val 13537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9010498" y="3981298"/>
            <a:ext cx="209398" cy="209398"/>
          </a:xfrm>
          <a:prstGeom prst="roundRect">
            <a:avLst>
              <a:gd name="adj" fmla="val 13537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915607" y="4343400"/>
            <a:ext cx="209398" cy="209398"/>
          </a:xfrm>
          <a:prstGeom prst="roundRect">
            <a:avLst>
              <a:gd name="adj" fmla="val 13537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9010498" y="4343400"/>
            <a:ext cx="209398" cy="209398"/>
          </a:xfrm>
          <a:prstGeom prst="roundRect">
            <a:avLst>
              <a:gd name="adj" fmla="val 13537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915607" y="4705502"/>
            <a:ext cx="209398" cy="209398"/>
          </a:xfrm>
          <a:prstGeom prst="roundRect">
            <a:avLst>
              <a:gd name="adj" fmla="val 13537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9010498" y="4705502"/>
            <a:ext cx="209398" cy="209398"/>
          </a:xfrm>
          <a:prstGeom prst="roundRect">
            <a:avLst>
              <a:gd name="adj" fmla="val 13537"/>
            </a:avLst>
          </a:prstGeom>
          <a:solidFill>
            <a:srgbClr val="FFFFFF"/>
          </a:solidFill>
          <a:ln w="25400">
            <a:solidFill>
              <a:srgbClr val="A50034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2344400" y="3619195"/>
            <a:ext cx="209398" cy="209398"/>
          </a:xfrm>
          <a:prstGeom prst="roundRect">
            <a:avLst>
              <a:gd name="adj" fmla="val 13537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12344400" y="3981298"/>
            <a:ext cx="209398" cy="209398"/>
          </a:xfrm>
          <a:prstGeom prst="roundRect">
            <a:avLst>
              <a:gd name="adj" fmla="val 13537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2344400" y="4343400"/>
            <a:ext cx="209398" cy="209398"/>
          </a:xfrm>
          <a:prstGeom prst="roundRect">
            <a:avLst>
              <a:gd name="adj" fmla="val 13537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12344400" y="4705502"/>
            <a:ext cx="209398" cy="209398"/>
          </a:xfrm>
          <a:prstGeom prst="roundRect">
            <a:avLst>
              <a:gd name="adj" fmla="val 13537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12344400" y="5067605"/>
            <a:ext cx="209398" cy="209398"/>
          </a:xfrm>
          <a:prstGeom prst="roundRect">
            <a:avLst>
              <a:gd name="adj" fmla="val 13537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12344400" y="5429707"/>
            <a:ext cx="209398" cy="209398"/>
          </a:xfrm>
          <a:prstGeom prst="roundRect">
            <a:avLst>
              <a:gd name="adj" fmla="val 13537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2344400" y="5790895"/>
            <a:ext cx="209398" cy="209398"/>
          </a:xfrm>
          <a:prstGeom prst="roundRect">
            <a:avLst>
              <a:gd name="adj" fmla="val 13537"/>
            </a:avLst>
          </a:prstGeom>
          <a:solidFill>
            <a:srgbClr val="FFFFFF"/>
          </a:solidFill>
          <a:ln w="25400">
            <a:solidFill>
              <a:srgbClr val="A50034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12344400" y="6152998"/>
            <a:ext cx="209398" cy="209398"/>
          </a:xfrm>
          <a:prstGeom prst="roundRect">
            <a:avLst>
              <a:gd name="adj" fmla="val 13537"/>
            </a:avLst>
          </a:prstGeom>
          <a:solidFill>
            <a:srgbClr val="FFFFFF"/>
          </a:solidFill>
          <a:ln w="25400">
            <a:solidFill>
              <a:srgbClr val="A50034"/>
            </a:solidFill>
            <a:prstDash val="solid"/>
          </a:ln>
        </p:spPr>
      </p:sp>
      <p:pic>
        <p:nvPicPr>
          <p:cNvPr id="33" name="Image 4" descr="gen-dedup-a926f4a3988a2be29236f3b0c59ad77a.png"/>
          <p:cNvPicPr>
            <a:picLocks noChangeAspect="1"/>
          </p:cNvPicPr>
          <p:nvPr/>
        </p:nvPicPr>
        <p:blipFill>
          <a:blip r:embed="rId6"/>
          <a:srcRect t="-360" b="-360"/>
          <a:stretch/>
        </p:blipFill>
        <p:spPr>
          <a:xfrm>
            <a:off x="1524305" y="9372600"/>
            <a:ext cx="381305" cy="19202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1143000" y="914400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kern="0" spc="243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FINAL </a:t>
            </a:r>
            <a:r>
              <a:rPr lang="en-US" sz="1350" b="1" kern="0" spc="243" dirty="0">
                <a:solidFill>
                  <a:srgbClr val="B5AFA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/ 설치 전 체크리스트</a:t>
            </a:r>
            <a:endParaRPr lang="en-US" sz="13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6" name="Text 29"/>
          <p:cNvSpPr txBox="1"/>
          <p:nvPr/>
        </p:nvSpPr>
        <p:spPr>
          <a:xfrm>
            <a:off x="1143000" y="1524305"/>
            <a:ext cx="14097305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750" kern="0" spc="-75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우리 집 TV,</a:t>
            </a:r>
            <a:endParaRPr lang="en-US" sz="37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7" name="Text 30"/>
          <p:cNvSpPr txBox="1"/>
          <p:nvPr/>
        </p:nvSpPr>
        <p:spPr>
          <a:xfrm>
            <a:off x="1143000" y="2133295"/>
            <a:ext cx="14097305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750" b="1" kern="0" spc="-75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설치 전 이것만 확인하세요</a:t>
            </a:r>
            <a:endParaRPr lang="en-US" sz="37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8" name="Text 31"/>
          <p:cNvSpPr txBox="1"/>
          <p:nvPr/>
        </p:nvSpPr>
        <p:spPr>
          <a:xfrm>
            <a:off x="1485900" y="3029407"/>
            <a:ext cx="30486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16" dirty="0"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01 / </a:t>
            </a:r>
            <a:r>
              <a:rPr lang="en-US" sz="2400" b="1" kern="0" spc="-16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TV 선택</a:t>
            </a:r>
            <a:endParaRPr lang="en-US" sz="2400" dirty="0">
              <a:solidFill>
                <a:srgbClr val="A50034"/>
              </a:solidFill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9" name="Text 32"/>
          <p:cNvSpPr txBox="1"/>
          <p:nvPr/>
        </p:nvSpPr>
        <p:spPr>
          <a:xfrm>
            <a:off x="4572000" y="3047695"/>
            <a:ext cx="13341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400" kern="0" spc="189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CHECKLIST</a:t>
            </a:r>
            <a:endParaRPr lang="en-US" sz="14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0" name="Text 33"/>
          <p:cNvSpPr txBox="1"/>
          <p:nvPr/>
        </p:nvSpPr>
        <p:spPr>
          <a:xfrm>
            <a:off x="1848002" y="3562502"/>
            <a:ext cx="36201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TV 크기</a:t>
            </a:r>
            <a:endParaRPr lang="en-US" sz="24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1" name="Text 34"/>
          <p:cNvSpPr txBox="1"/>
          <p:nvPr/>
        </p:nvSpPr>
        <p:spPr>
          <a:xfrm>
            <a:off x="1848002" y="4038905"/>
            <a:ext cx="36201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실제 TV 가로폭</a:t>
            </a:r>
            <a:endParaRPr lang="en-US" sz="24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2" name="Text 35"/>
          <p:cNvSpPr txBox="1"/>
          <p:nvPr/>
        </p:nvSpPr>
        <p:spPr>
          <a:xfrm>
            <a:off x="1848002" y="4515307"/>
            <a:ext cx="36201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실제 TV 높이</a:t>
            </a:r>
            <a:endParaRPr lang="en-US" sz="24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3" name="Text 36"/>
          <p:cNvSpPr txBox="1"/>
          <p:nvPr/>
        </p:nvSpPr>
        <p:spPr>
          <a:xfrm>
            <a:off x="1848002" y="4990795"/>
            <a:ext cx="36201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시청거리</a:t>
            </a:r>
            <a:endParaRPr lang="en-US" sz="24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4" name="Text 37"/>
          <p:cNvSpPr txBox="1"/>
          <p:nvPr/>
        </p:nvSpPr>
        <p:spPr>
          <a:xfrm>
            <a:off x="1848002" y="5467198"/>
            <a:ext cx="36201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거실 벽면 폭</a:t>
            </a:r>
            <a:endParaRPr lang="en-US" sz="24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5" name="Text 38"/>
          <p:cNvSpPr txBox="1"/>
          <p:nvPr/>
        </p:nvSpPr>
        <p:spPr>
          <a:xfrm>
            <a:off x="1447495" y="6141595"/>
            <a:ext cx="4572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dirty="0">
                <a:solidFill>
                  <a:srgbClr val="9E988C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인치 수치보다 실제 </a:t>
            </a:r>
            <a:r>
              <a:rPr lang="en-US" dirty="0" err="1">
                <a:solidFill>
                  <a:srgbClr val="9E988C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가로·세로를</a:t>
            </a:r>
            <a:endParaRPr lang="en-US" dirty="0">
              <a:solidFill>
                <a:srgbClr val="9E988C"/>
              </a:solidFill>
              <a:latin typeface="LG Smart UI Bold" panose="020B0800000101010101" pitchFamily="50" charset="-127"/>
              <a:ea typeface="LG Smart UI Bold" panose="020B0800000101010101" pitchFamily="50" charset="-127"/>
              <a:cs typeface="Noto Sans KR" pitchFamily="34" charset="-120"/>
            </a:endParaRPr>
          </a:p>
          <a:p>
            <a:pPr marL="0" indent="0" algn="l">
              <a:lnSpc>
                <a:spcPts val="1800"/>
              </a:lnSpc>
              <a:buNone/>
            </a:pPr>
            <a:endParaRPr lang="en-US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  <a:p>
            <a:pPr marL="0" indent="0" algn="l">
              <a:lnSpc>
                <a:spcPts val="1800"/>
              </a:lnSpc>
              <a:buNone/>
            </a:pPr>
            <a:r>
              <a:rPr lang="en-US" dirty="0">
                <a:solidFill>
                  <a:srgbClr val="9E988C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먼저 확인하는 것이 핵심</a:t>
            </a:r>
            <a:endParaRPr lang="en-US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6" name="Text 39"/>
          <p:cNvSpPr txBox="1"/>
          <p:nvPr/>
        </p:nvSpPr>
        <p:spPr>
          <a:xfrm>
            <a:off x="6915607" y="3029407"/>
            <a:ext cx="30486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16" dirty="0"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02</a:t>
            </a:r>
            <a:r>
              <a:rPr lang="en-US" sz="2400" b="1" kern="0" spc="-16" dirty="0">
                <a:solidFill>
                  <a:srgbClr val="FFFFFF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 </a:t>
            </a:r>
            <a:r>
              <a:rPr lang="en-US" sz="2400" b="1" kern="0" spc="-16" dirty="0"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/</a:t>
            </a:r>
            <a:r>
              <a:rPr lang="en-US" sz="2400" b="1" kern="0" spc="-16" dirty="0">
                <a:solidFill>
                  <a:srgbClr val="B5AFA3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 </a:t>
            </a:r>
            <a:r>
              <a:rPr lang="en-US" sz="2400" b="1" kern="0" spc="-16" dirty="0">
                <a:solidFill>
                  <a:srgbClr val="C00000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설치 환경</a:t>
            </a:r>
            <a:endParaRPr lang="en-US" sz="2400" dirty="0">
              <a:solidFill>
                <a:srgbClr val="C00000"/>
              </a:solidFill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7" name="Text 40"/>
          <p:cNvSpPr txBox="1"/>
          <p:nvPr/>
        </p:nvSpPr>
        <p:spPr>
          <a:xfrm>
            <a:off x="10001707" y="3047695"/>
            <a:ext cx="13341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400" kern="0" spc="189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CHECKLIST</a:t>
            </a:r>
            <a:endParaRPr lang="en-US" sz="14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8" name="Text 41"/>
          <p:cNvSpPr txBox="1"/>
          <p:nvPr/>
        </p:nvSpPr>
        <p:spPr>
          <a:xfrm>
            <a:off x="7276795" y="3562502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스탠드</a:t>
            </a:r>
            <a:endParaRPr lang="en-US" sz="20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9" name="Text 42"/>
          <p:cNvSpPr txBox="1"/>
          <p:nvPr/>
        </p:nvSpPr>
        <p:spPr>
          <a:xfrm>
            <a:off x="9372600" y="3562502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이젤형</a:t>
            </a:r>
            <a:endParaRPr lang="en-US" sz="20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50" name="Text 43"/>
          <p:cNvSpPr txBox="1"/>
          <p:nvPr/>
        </p:nvSpPr>
        <p:spPr>
          <a:xfrm>
            <a:off x="7276795" y="392460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벽걸이 타공</a:t>
            </a:r>
            <a:endParaRPr lang="en-US" sz="20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51" name="Text 44"/>
          <p:cNvSpPr txBox="1"/>
          <p:nvPr/>
        </p:nvSpPr>
        <p:spPr>
          <a:xfrm>
            <a:off x="9372600" y="392460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벽걸이 무타공</a:t>
            </a:r>
            <a:endParaRPr lang="en-US" sz="20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52" name="Text 45"/>
          <p:cNvSpPr txBox="1"/>
          <p:nvPr/>
        </p:nvSpPr>
        <p:spPr>
          <a:xfrm>
            <a:off x="7276795" y="4286707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반매립</a:t>
            </a:r>
            <a:endParaRPr lang="en-US" sz="20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53" name="Text 46"/>
          <p:cNvSpPr txBox="1"/>
          <p:nvPr/>
        </p:nvSpPr>
        <p:spPr>
          <a:xfrm>
            <a:off x="9372600" y="4286707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벽면 재질</a:t>
            </a:r>
            <a:endParaRPr lang="en-US" sz="20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54" name="Text 47"/>
          <p:cNvSpPr txBox="1"/>
          <p:nvPr/>
        </p:nvSpPr>
        <p:spPr>
          <a:xfrm>
            <a:off x="7276795" y="46478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콘센트 위치</a:t>
            </a:r>
            <a:endParaRPr lang="en-US" sz="20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55" name="Text 48"/>
          <p:cNvSpPr txBox="1"/>
          <p:nvPr/>
        </p:nvSpPr>
        <p:spPr>
          <a:xfrm>
            <a:off x="9372600" y="46478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케이블 동선</a:t>
            </a:r>
            <a:endParaRPr lang="en-US" sz="20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56" name="Text 49"/>
          <p:cNvSpPr txBox="1"/>
          <p:nvPr/>
        </p:nvSpPr>
        <p:spPr>
          <a:xfrm>
            <a:off x="6915607" y="6073445"/>
            <a:ext cx="4572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dirty="0">
                <a:solidFill>
                  <a:srgbClr val="9E988C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설치 시점 + 가공 깊이까지</a:t>
            </a:r>
            <a:endParaRPr lang="en-US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  <a:p>
            <a:pPr marL="0" indent="0" algn="l">
              <a:lnSpc>
                <a:spcPts val="1800"/>
              </a:lnSpc>
              <a:buNone/>
            </a:pPr>
            <a:r>
              <a:rPr lang="en-US" dirty="0">
                <a:solidFill>
                  <a:srgbClr val="9E988C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한 번에 정리합니다</a:t>
            </a:r>
            <a:endParaRPr lang="en-US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57" name="Text 50"/>
          <p:cNvSpPr txBox="1"/>
          <p:nvPr/>
        </p:nvSpPr>
        <p:spPr>
          <a:xfrm>
            <a:off x="12344400" y="3029407"/>
            <a:ext cx="30486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16" dirty="0"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03 / 주변기기</a:t>
            </a:r>
            <a:endParaRPr lang="en-US" sz="24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58" name="Text 51"/>
          <p:cNvSpPr txBox="1"/>
          <p:nvPr/>
        </p:nvSpPr>
        <p:spPr>
          <a:xfrm>
            <a:off x="15430500" y="3047695"/>
            <a:ext cx="13341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400" kern="0" spc="189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CHECKLIST</a:t>
            </a:r>
            <a:endParaRPr lang="en-US" sz="14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59" name="Text 52"/>
          <p:cNvSpPr txBox="1"/>
          <p:nvPr/>
        </p:nvSpPr>
        <p:spPr>
          <a:xfrm>
            <a:off x="12706502" y="3562502"/>
            <a:ext cx="3620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셋톱박스 위치</a:t>
            </a:r>
            <a:endParaRPr lang="en-US" sz="20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60" name="Text 53"/>
          <p:cNvSpPr txBox="1"/>
          <p:nvPr/>
        </p:nvSpPr>
        <p:spPr>
          <a:xfrm>
            <a:off x="12706502" y="3924605"/>
            <a:ext cx="3620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PlayStation 위치</a:t>
            </a:r>
            <a:endParaRPr lang="en-US" sz="20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61" name="Text 54"/>
          <p:cNvSpPr txBox="1"/>
          <p:nvPr/>
        </p:nvSpPr>
        <p:spPr>
          <a:xfrm>
            <a:off x="12706502" y="4286707"/>
            <a:ext cx="3620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사운드바 위치</a:t>
            </a:r>
            <a:endParaRPr lang="en-US" sz="20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62" name="Text 55"/>
          <p:cNvSpPr txBox="1"/>
          <p:nvPr/>
        </p:nvSpPr>
        <p:spPr>
          <a:xfrm>
            <a:off x="12706502" y="4647895"/>
            <a:ext cx="3620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HDMI</a:t>
            </a:r>
            <a:endParaRPr lang="en-US" sz="20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63" name="Text 56"/>
          <p:cNvSpPr txBox="1"/>
          <p:nvPr/>
        </p:nvSpPr>
        <p:spPr>
          <a:xfrm>
            <a:off x="12706502" y="5009998"/>
            <a:ext cx="3620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인터넷 / LAN</a:t>
            </a:r>
            <a:endParaRPr lang="en-US" sz="20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64" name="Text 57"/>
          <p:cNvSpPr txBox="1"/>
          <p:nvPr/>
        </p:nvSpPr>
        <p:spPr>
          <a:xfrm>
            <a:off x="12706502" y="5372100"/>
            <a:ext cx="3620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전원</a:t>
            </a:r>
            <a:endParaRPr lang="en-US" sz="20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65" name="Text 58"/>
          <p:cNvSpPr txBox="1"/>
          <p:nvPr/>
        </p:nvSpPr>
        <p:spPr>
          <a:xfrm>
            <a:off x="12706502" y="5734202"/>
            <a:ext cx="3620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통풍</a:t>
            </a:r>
            <a:endParaRPr lang="en-US" sz="20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66" name="Text 59"/>
          <p:cNvSpPr txBox="1"/>
          <p:nvPr/>
        </p:nvSpPr>
        <p:spPr>
          <a:xfrm>
            <a:off x="12706502" y="6096305"/>
            <a:ext cx="3620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유지보수 공간</a:t>
            </a:r>
            <a:endParaRPr lang="en-US" sz="20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67" name="Text 60"/>
          <p:cNvSpPr txBox="1"/>
          <p:nvPr/>
        </p:nvSpPr>
        <p:spPr>
          <a:xfrm>
            <a:off x="1524305" y="7524598"/>
            <a:ext cx="1123980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"TV를 고르는 것에서 끝나는 상담이 아니라,</a:t>
            </a:r>
            <a:endParaRPr lang="en-US" sz="32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68" name="Text 61"/>
          <p:cNvSpPr txBox="1"/>
          <p:nvPr/>
        </p:nvSpPr>
        <p:spPr>
          <a:xfrm>
            <a:off x="1524305" y="7962595"/>
            <a:ext cx="1123980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우리 집 거실에 어떻게 </a:t>
            </a:r>
            <a:r>
              <a:rPr lang="en-US" sz="3200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설치</a:t>
            </a:r>
            <a:r>
              <a:rPr lang="en-US" sz="3200" dirty="0"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할지까지 함께 설계하는 상담"</a:t>
            </a:r>
            <a:endParaRPr lang="en-US" sz="32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72" name="Text 65"/>
          <p:cNvSpPr txBox="1"/>
          <p:nvPr/>
        </p:nvSpPr>
        <p:spPr>
          <a:xfrm>
            <a:off x="1524305" y="9163202"/>
            <a:ext cx="1524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PROCESS</a:t>
            </a:r>
            <a:endParaRPr lang="en-US" sz="10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73" name="Text 66"/>
          <p:cNvSpPr txBox="1"/>
          <p:nvPr/>
        </p:nvSpPr>
        <p:spPr>
          <a:xfrm>
            <a:off x="2095805" y="9296705"/>
            <a:ext cx="14859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kern="0" spc="66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TV 크기 </a:t>
            </a:r>
            <a:r>
              <a:rPr lang="en-US" sz="1650" kern="0" spc="66" dirty="0">
                <a:solidFill>
                  <a:srgbClr val="D5CFC2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→</a:t>
            </a:r>
            <a:r>
              <a:rPr lang="en-US" sz="1650" kern="0" spc="66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 시청거리 </a:t>
            </a:r>
            <a:r>
              <a:rPr lang="en-US" sz="1650" kern="0" spc="66" dirty="0">
                <a:solidFill>
                  <a:srgbClr val="D5CFC2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→</a:t>
            </a:r>
            <a:r>
              <a:rPr lang="en-US" sz="1650" kern="0" spc="66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 설치방식 </a:t>
            </a:r>
            <a:r>
              <a:rPr lang="en-US" sz="1650" kern="0" spc="66" dirty="0">
                <a:solidFill>
                  <a:srgbClr val="D5CFC2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→</a:t>
            </a:r>
            <a:r>
              <a:rPr lang="en-US" sz="1650" kern="0" spc="66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 반매립 </a:t>
            </a:r>
            <a:r>
              <a:rPr lang="en-US" sz="1650" kern="0" spc="66" dirty="0">
                <a:solidFill>
                  <a:srgbClr val="D5CFC2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→</a:t>
            </a:r>
            <a:r>
              <a:rPr lang="en-US" sz="1650" kern="0" spc="66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 셋톱박스 </a:t>
            </a:r>
            <a:r>
              <a:rPr lang="en-US" sz="1650" kern="0" spc="66" dirty="0">
                <a:solidFill>
                  <a:srgbClr val="D5CFC2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→</a:t>
            </a:r>
            <a:r>
              <a:rPr lang="en-US" sz="1650" kern="0" spc="66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 PlayStation </a:t>
            </a:r>
            <a:r>
              <a:rPr lang="en-US" sz="1650" kern="0" spc="66" dirty="0">
                <a:solidFill>
                  <a:srgbClr val="D5CFC2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→</a:t>
            </a:r>
            <a:r>
              <a:rPr lang="en-US" sz="1650" kern="0" spc="66" dirty="0">
                <a:solidFill>
                  <a:srgbClr val="1A1A1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 사운드바 </a:t>
            </a:r>
            <a:r>
              <a:rPr lang="en-US" sz="1650" kern="0" spc="66" dirty="0">
                <a:solidFill>
                  <a:srgbClr val="D5CFC2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→</a:t>
            </a:r>
            <a:r>
              <a:rPr lang="en-US" sz="1650" b="1" kern="0" spc="66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Sora" pitchFamily="34" charset="-120"/>
              </a:rPr>
              <a:t>케이블 / 전원</a:t>
            </a:r>
            <a:endParaRPr lang="en-US" sz="165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f220eee8961887e9cc40944a72960f4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609905" y="1314907"/>
            <a:ext cx="17069105" cy="914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8419795"/>
            <a:ext cx="18288000" cy="1867205"/>
          </a:xfrm>
          <a:prstGeom prst="rect">
            <a:avLst/>
          </a:prstGeom>
          <a:solidFill>
            <a:srgbClr val="1C191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1" descr="gen-dedup-2cac40b97e44b56ef6ca235a501c7b3c.png"/>
          <p:cNvPicPr>
            <a:picLocks noChangeAspect="1"/>
          </p:cNvPicPr>
          <p:nvPr/>
        </p:nvPicPr>
        <p:blipFill>
          <a:blip r:embed="rId4"/>
          <a:srcRect l="-429" r="-429"/>
          <a:stretch/>
        </p:blipFill>
        <p:spPr>
          <a:xfrm>
            <a:off x="609905" y="8686800"/>
            <a:ext cx="609905" cy="28346"/>
          </a:xfrm>
          <a:prstGeom prst="rect">
            <a:avLst/>
          </a:prstGeom>
        </p:spPr>
      </p:pic>
      <p:pic>
        <p:nvPicPr>
          <p:cNvPr id="5" name="Image 2" descr="gen-dedup-11c9a16f287b098513b4c85e96d6bfc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505" y="2115007"/>
            <a:ext cx="2076602" cy="2667305"/>
          </a:xfrm>
          <a:prstGeom prst="rect">
            <a:avLst/>
          </a:prstGeom>
        </p:spPr>
      </p:pic>
      <p:pic>
        <p:nvPicPr>
          <p:cNvPr id="6" name="Image 3" descr="gen-dedup-13f1034f1c56eb1f0d47fc7891152dc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66898" y="2115007"/>
            <a:ext cx="2667305" cy="2667305"/>
          </a:xfrm>
          <a:prstGeom prst="rect">
            <a:avLst/>
          </a:prstGeom>
        </p:spPr>
      </p:pic>
      <p:pic>
        <p:nvPicPr>
          <p:cNvPr id="7" name="Image 4" descr="gen-dedup-26de7dbad1a5f82971a5bc48b6e859b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6907" y="2115007"/>
            <a:ext cx="2667305" cy="2667305"/>
          </a:xfrm>
          <a:prstGeom prst="rect">
            <a:avLst/>
          </a:prstGeom>
        </p:spPr>
      </p:pic>
      <p:pic>
        <p:nvPicPr>
          <p:cNvPr id="8" name="Image 5" descr="gen-dedup-ac73c13857206c9663eca78550230dd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5305" y="2115007"/>
            <a:ext cx="4457700" cy="2971800"/>
          </a:xfrm>
          <a:prstGeom prst="rect">
            <a:avLst/>
          </a:prstGeom>
        </p:spPr>
      </p:pic>
      <p:pic>
        <p:nvPicPr>
          <p:cNvPr id="9" name="Image 6" descr="gen-dedup-a19175e20aff3d2bc9a143d66235bab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505" y="6191402"/>
            <a:ext cx="4114800" cy="1904695"/>
          </a:xfrm>
          <a:prstGeom prst="rect">
            <a:avLst/>
          </a:prstGeom>
        </p:spPr>
      </p:pic>
      <p:pic>
        <p:nvPicPr>
          <p:cNvPr id="10" name="Image 7" descr="gen-dedup-f1966511bb0a44d6c212474aaba73cf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25305" y="6191402"/>
            <a:ext cx="4114800" cy="1904695"/>
          </a:xfrm>
          <a:prstGeom prst="rect">
            <a:avLst/>
          </a:prstGeom>
        </p:spPr>
      </p:pic>
      <p:pic>
        <p:nvPicPr>
          <p:cNvPr id="11" name="Image 8" descr="gen-dedup-44995697cece74efa2936dab3fdec93c.png"/>
          <p:cNvPicPr>
            <a:picLocks noChangeAspect="1"/>
          </p:cNvPicPr>
          <p:nvPr/>
        </p:nvPicPr>
        <p:blipFill>
          <a:blip r:embed="rId11"/>
          <a:srcRect l="-4" r="-4"/>
          <a:stretch/>
        </p:blipFill>
        <p:spPr>
          <a:xfrm>
            <a:off x="838505" y="2115007"/>
            <a:ext cx="2076602" cy="914400"/>
          </a:xfrm>
          <a:prstGeom prst="rect">
            <a:avLst/>
          </a:prstGeom>
        </p:spPr>
      </p:pic>
      <p:pic>
        <p:nvPicPr>
          <p:cNvPr id="12" name="Image 9" descr="gen-dedup-ab447d5d52e797b09ce2149c0ca285bf.png"/>
          <p:cNvPicPr>
            <a:picLocks noChangeAspect="1"/>
          </p:cNvPicPr>
          <p:nvPr/>
        </p:nvPicPr>
        <p:blipFill>
          <a:blip r:embed="rId12"/>
          <a:srcRect l="-6" r="-6"/>
          <a:stretch/>
        </p:blipFill>
        <p:spPr>
          <a:xfrm>
            <a:off x="3066898" y="2115007"/>
            <a:ext cx="2667305" cy="914400"/>
          </a:xfrm>
          <a:prstGeom prst="rect">
            <a:avLst/>
          </a:prstGeom>
        </p:spPr>
      </p:pic>
      <p:pic>
        <p:nvPicPr>
          <p:cNvPr id="13" name="Image 10" descr="gen-dedup-ab447d5d52e797b09ce2149c0ca285bf.png"/>
          <p:cNvPicPr>
            <a:picLocks noChangeAspect="1"/>
          </p:cNvPicPr>
          <p:nvPr/>
        </p:nvPicPr>
        <p:blipFill>
          <a:blip r:embed="rId12"/>
          <a:srcRect l="-6" r="-6"/>
          <a:stretch/>
        </p:blipFill>
        <p:spPr>
          <a:xfrm>
            <a:off x="5886907" y="2115007"/>
            <a:ext cx="2667305" cy="914400"/>
          </a:xfrm>
          <a:prstGeom prst="rect">
            <a:avLst/>
          </a:prstGeom>
        </p:spPr>
      </p:pic>
      <p:pic>
        <p:nvPicPr>
          <p:cNvPr id="14" name="Image 11" descr="gen-dedup-5af0a70111821b288888c74d8b4a9dcb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9525305" y="2115007"/>
            <a:ext cx="4457700" cy="457200"/>
          </a:xfrm>
          <a:prstGeom prst="rect">
            <a:avLst/>
          </a:prstGeom>
        </p:spPr>
      </p:pic>
      <p:sp>
        <p:nvSpPr>
          <p:cNvPr id="15" name="Text 1"/>
          <p:cNvSpPr txBox="1"/>
          <p:nvPr/>
        </p:nvSpPr>
        <p:spPr>
          <a:xfrm>
            <a:off x="609905" y="209398"/>
            <a:ext cx="8572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i="1" kern="0" spc="225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Cormorant Garamond" pitchFamily="34" charset="-120"/>
              </a:rPr>
              <a:t>LG BEST SHOP · TV 인테리어 체크 메뉴</a:t>
            </a:r>
            <a:endParaRPr lang="en-US" sz="14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16" name="Text 2"/>
          <p:cNvSpPr txBox="1"/>
          <p:nvPr/>
        </p:nvSpPr>
        <p:spPr>
          <a:xfrm>
            <a:off x="609905" y="514807"/>
            <a:ext cx="14287500" cy="5623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000" kern="0" spc="-33" dirty="0">
                <a:solidFill>
                  <a:srgbClr val="1C1A17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erif KR" pitchFamily="34" charset="-120"/>
              </a:rPr>
              <a:t>TV를 고를 때, </a:t>
            </a:r>
            <a:r>
              <a:rPr lang="en-US" sz="4000" i="1" kern="0" spc="-33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Cormorant Garamond" pitchFamily="34" charset="-120"/>
              </a:rPr>
              <a:t>인테리어</a:t>
            </a:r>
            <a:r>
              <a:rPr lang="en-US" sz="4000" kern="0" spc="-33" dirty="0">
                <a:solidFill>
                  <a:srgbClr val="1C1A17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erif KR" pitchFamily="34" charset="-120"/>
              </a:rPr>
              <a:t> 도 함께 확인하세요</a:t>
            </a:r>
            <a:endParaRPr lang="en-US" sz="40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17" name="Text 3"/>
          <p:cNvSpPr txBox="1"/>
          <p:nvPr/>
        </p:nvSpPr>
        <p:spPr>
          <a:xfrm>
            <a:off x="609905" y="1086307"/>
            <a:ext cx="142875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6E665A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TV 크기뿐 아니라 스탠드 형태와 벽면 구조까지 확인해야 설치가 깔끔해집니다.</a:t>
            </a:r>
            <a:endParaRPr lang="en-US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19" name="Text 5"/>
          <p:cNvSpPr txBox="1"/>
          <p:nvPr/>
        </p:nvSpPr>
        <p:spPr>
          <a:xfrm>
            <a:off x="838505" y="1543507"/>
            <a:ext cx="7925105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00" b="1" i="1" kern="0" spc="-11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Cormorant Garamond" pitchFamily="34" charset="-120"/>
              </a:rPr>
              <a:t>01 </a:t>
            </a:r>
            <a:r>
              <a:rPr lang="en-US" sz="2800" kern="0" spc="-11" dirty="0" err="1">
                <a:solidFill>
                  <a:srgbClr val="1C1A17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스탠드형</a:t>
            </a:r>
            <a:r>
              <a:rPr lang="en-US" sz="2800" kern="0" spc="-11" dirty="0">
                <a:solidFill>
                  <a:srgbClr val="1C1A17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 TV라면, TV장부터 확인하세요</a:t>
            </a:r>
            <a:endParaRPr lang="en-US" sz="28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1" name="Text 7"/>
          <p:cNvSpPr txBox="1"/>
          <p:nvPr/>
        </p:nvSpPr>
        <p:spPr>
          <a:xfrm>
            <a:off x="2628901" y="4905055"/>
            <a:ext cx="310530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C1A17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TV장 깊이와 스탠드 크기를 확인하세요</a:t>
            </a:r>
            <a:endParaRPr lang="en-US" sz="16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2" name="Text 8"/>
          <p:cNvSpPr txBox="1"/>
          <p:nvPr/>
        </p:nvSpPr>
        <p:spPr>
          <a:xfrm>
            <a:off x="5886907" y="4895698"/>
            <a:ext cx="310530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TV장 폭이 충분한지 반드시 확인하세요</a:t>
            </a:r>
            <a:endParaRPr lang="en-US" sz="16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3" name="Text 9"/>
          <p:cNvSpPr txBox="1"/>
          <p:nvPr/>
        </p:nvSpPr>
        <p:spPr>
          <a:xfrm>
            <a:off x="9525305" y="1543507"/>
            <a:ext cx="7925105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00" b="1" i="1" kern="0" spc="-11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Cormorant Garamond" pitchFamily="34" charset="-120"/>
              </a:rPr>
              <a:t>02 </a:t>
            </a:r>
            <a:r>
              <a:rPr lang="en-US" sz="2800" kern="0" spc="-11" dirty="0" err="1">
                <a:solidFill>
                  <a:srgbClr val="1C1A17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벽걸이</a:t>
            </a:r>
            <a:r>
              <a:rPr lang="en-US" sz="2800" kern="0" spc="-11" dirty="0">
                <a:solidFill>
                  <a:srgbClr val="1C1A17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 · </a:t>
            </a:r>
            <a:r>
              <a:rPr lang="en-US" sz="2800" kern="0" spc="-11" dirty="0" err="1">
                <a:solidFill>
                  <a:srgbClr val="1C1A17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반매립은</a:t>
            </a:r>
            <a:r>
              <a:rPr lang="en-US" sz="2800" kern="0" spc="-11" dirty="0">
                <a:solidFill>
                  <a:srgbClr val="1C1A17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 TV의 ‘후면 구조’를 확인하세요</a:t>
            </a:r>
            <a:endParaRPr lang="en-US" sz="28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4" name="Text 10"/>
          <p:cNvSpPr txBox="1"/>
          <p:nvPr/>
        </p:nvSpPr>
        <p:spPr>
          <a:xfrm>
            <a:off x="14211605" y="2086661"/>
            <a:ext cx="3238805" cy="1267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800" b="1" kern="0" spc="-11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erif KR" pitchFamily="34" charset="-120"/>
              </a:rPr>
              <a:t>반매립은</a:t>
            </a:r>
            <a:endParaRPr lang="en-US" sz="28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  <a:p>
            <a:pPr marL="0" indent="0" algn="l">
              <a:lnSpc>
                <a:spcPts val="3150"/>
              </a:lnSpc>
              <a:buNone/>
            </a:pPr>
            <a:r>
              <a:rPr lang="en-US" sz="2800" b="1" kern="0" spc="-11" dirty="0">
                <a:solidFill>
                  <a:srgbClr val="1C1A17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erif KR" pitchFamily="34" charset="-120"/>
              </a:rPr>
              <a:t>TV 크기만 보고</a:t>
            </a:r>
            <a:endParaRPr lang="en-US" sz="28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  <a:p>
            <a:pPr marL="0" indent="0" algn="l">
              <a:lnSpc>
                <a:spcPts val="3150"/>
              </a:lnSpc>
              <a:buNone/>
            </a:pPr>
            <a:r>
              <a:rPr lang="en-US" sz="2800" b="1" kern="0" spc="-11" dirty="0">
                <a:solidFill>
                  <a:srgbClr val="1C1A17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erif KR" pitchFamily="34" charset="-120"/>
              </a:rPr>
              <a:t>결정하지 </a:t>
            </a:r>
            <a:r>
              <a:rPr lang="en-US" sz="2800" b="1" i="1" kern="0" spc="-11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Cormorant Garamond" pitchFamily="34" charset="-120"/>
              </a:rPr>
              <a:t>않습니다.</a:t>
            </a:r>
            <a:endParaRPr lang="en-US" sz="28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5" name="Text 11"/>
          <p:cNvSpPr txBox="1"/>
          <p:nvPr/>
        </p:nvSpPr>
        <p:spPr>
          <a:xfrm>
            <a:off x="14211605" y="3733495"/>
            <a:ext cx="32388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3A352E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제품별 </a:t>
            </a:r>
            <a:r>
              <a:rPr lang="en-US" sz="1600" b="1" dirty="0">
                <a:solidFill>
                  <a:srgbClr val="1C1A17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후면 구조</a:t>
            </a:r>
            <a:r>
              <a:rPr lang="en-US" sz="1600" dirty="0">
                <a:solidFill>
                  <a:srgbClr val="3A352E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 · </a:t>
            </a:r>
            <a:r>
              <a:rPr lang="en-US" sz="1600" b="1" dirty="0">
                <a:solidFill>
                  <a:srgbClr val="1C1A17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하단부 돌출</a:t>
            </a:r>
            <a:r>
              <a:rPr lang="en-US" sz="1600" dirty="0">
                <a:solidFill>
                  <a:srgbClr val="3A352E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 · </a:t>
            </a:r>
            <a:r>
              <a:rPr lang="en-US" sz="1600" b="1" dirty="0">
                <a:solidFill>
                  <a:srgbClr val="1C1A17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TV 두께</a:t>
            </a:r>
            <a:r>
              <a:rPr lang="en-US" sz="1600" dirty="0">
                <a:solidFill>
                  <a:srgbClr val="3A352E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 · </a:t>
            </a:r>
            <a:r>
              <a:rPr lang="en-US" sz="1600" b="1" dirty="0">
                <a:solidFill>
                  <a:srgbClr val="1C1A17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브라켓 구조</a:t>
            </a:r>
            <a:r>
              <a:rPr lang="en-US" sz="1600" dirty="0">
                <a:solidFill>
                  <a:srgbClr val="3A352E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를 확인한 후 설치 공간을 설계하세요.</a:t>
            </a:r>
            <a:endParaRPr lang="en-US" sz="16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6" name="Text 12"/>
          <p:cNvSpPr txBox="1"/>
          <p:nvPr/>
        </p:nvSpPr>
        <p:spPr>
          <a:xfrm>
            <a:off x="838505" y="5676595"/>
            <a:ext cx="7925105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b="1" i="1" kern="0" spc="-9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Cormorant Garamond" pitchFamily="34" charset="-120"/>
              </a:rPr>
              <a:t>03 </a:t>
            </a:r>
            <a:r>
              <a:rPr lang="en-US" sz="2400" kern="0" spc="-9" dirty="0" err="1">
                <a:solidFill>
                  <a:srgbClr val="1C1A17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반매립이라면</a:t>
            </a:r>
            <a:r>
              <a:rPr lang="en-US" sz="2400" kern="0" spc="-9" dirty="0">
                <a:solidFill>
                  <a:srgbClr val="1C1A17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 셋탑박스 공간도 함께 계획하세요</a:t>
            </a:r>
            <a:endParaRPr lang="en-US" sz="24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7" name="Text 13"/>
          <p:cNvSpPr txBox="1"/>
          <p:nvPr/>
        </p:nvSpPr>
        <p:spPr>
          <a:xfrm>
            <a:off x="5181905" y="6286500"/>
            <a:ext cx="35817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i="1" kern="0" spc="231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Cormorant Garamond" pitchFamily="34" charset="-120"/>
              </a:rPr>
              <a:t>TV 뒤의 얕은 틈</a:t>
            </a:r>
            <a:endParaRPr lang="en-US" sz="12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8" name="Text 14"/>
          <p:cNvSpPr txBox="1"/>
          <p:nvPr/>
        </p:nvSpPr>
        <p:spPr>
          <a:xfrm>
            <a:off x="5181905" y="6564478"/>
            <a:ext cx="3581705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4A443C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셋탑박스 · 전원선 · HDMI 케이블이</a:t>
            </a:r>
            <a:endParaRPr lang="en-US" sz="16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4A443C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깔끔하게 정리되어야 합니다.</a:t>
            </a:r>
            <a:endParaRPr lang="en-US" sz="16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29" name="Text 15"/>
          <p:cNvSpPr txBox="1"/>
          <p:nvPr/>
        </p:nvSpPr>
        <p:spPr>
          <a:xfrm>
            <a:off x="5181905" y="7300570"/>
            <a:ext cx="3581705" cy="605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kern="0" spc="-7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erif KR" pitchFamily="34" charset="-120"/>
              </a:rPr>
              <a:t>TV만 들어갈 공간은</a:t>
            </a:r>
            <a:endParaRPr lang="en-US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  <a:p>
            <a:pPr marL="0" indent="0" algn="l">
              <a:lnSpc>
                <a:spcPts val="2250"/>
              </a:lnSpc>
              <a:buNone/>
            </a:pPr>
            <a:r>
              <a:rPr lang="en-US" kern="0" spc="-7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erif KR" pitchFamily="34" charset="-120"/>
              </a:rPr>
              <a:t>충분하지 않습니다.</a:t>
            </a:r>
            <a:endParaRPr lang="en-US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0" name="Text 16"/>
          <p:cNvSpPr txBox="1"/>
          <p:nvPr/>
        </p:nvSpPr>
        <p:spPr>
          <a:xfrm>
            <a:off x="9525305" y="5676595"/>
            <a:ext cx="7925105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b="1" i="1" kern="0" spc="-9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Cormorant Garamond" pitchFamily="34" charset="-120"/>
              </a:rPr>
              <a:t>04 </a:t>
            </a:r>
            <a:r>
              <a:rPr lang="en-US" sz="2400" kern="0" spc="-9" dirty="0" err="1">
                <a:solidFill>
                  <a:srgbClr val="1C1A17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사운드바·게임기까지</a:t>
            </a:r>
            <a:r>
              <a:rPr lang="en-US" sz="2400" kern="0" spc="-9" dirty="0">
                <a:solidFill>
                  <a:srgbClr val="1C1A17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 생각한다면?</a:t>
            </a:r>
            <a:endParaRPr lang="en-US" sz="24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1" name="Text 17"/>
          <p:cNvSpPr txBox="1"/>
          <p:nvPr/>
        </p:nvSpPr>
        <p:spPr>
          <a:xfrm>
            <a:off x="13868705" y="6286500"/>
            <a:ext cx="35817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i="1" kern="0" spc="231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Cormorant Garamond" pitchFamily="34" charset="-120"/>
              </a:rPr>
              <a:t>TV + SOUNDBAR + SET-TOP + CONSOLE</a:t>
            </a:r>
            <a:endParaRPr lang="en-US" sz="12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2" name="Text 18"/>
          <p:cNvSpPr txBox="1"/>
          <p:nvPr/>
        </p:nvSpPr>
        <p:spPr>
          <a:xfrm>
            <a:off x="13868705" y="6564478"/>
            <a:ext cx="3581705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4A443C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각각의 위치와 연결을</a:t>
            </a:r>
            <a:endParaRPr lang="en-US" sz="16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4A443C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처음부터 함께 그리세요.</a:t>
            </a:r>
            <a:endParaRPr lang="en-US" sz="16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3" name="Text 19"/>
          <p:cNvSpPr txBox="1"/>
          <p:nvPr/>
        </p:nvSpPr>
        <p:spPr>
          <a:xfrm>
            <a:off x="13868705" y="7300570"/>
            <a:ext cx="3581705" cy="605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kern="0" spc="-7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erif KR" pitchFamily="34" charset="-120"/>
              </a:rPr>
              <a:t>주변 기기의 위치까지</a:t>
            </a:r>
            <a:endParaRPr lang="en-US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  <a:p>
            <a:pPr marL="0" indent="0" algn="l">
              <a:lnSpc>
                <a:spcPts val="2250"/>
              </a:lnSpc>
              <a:buNone/>
            </a:pPr>
            <a:r>
              <a:rPr lang="en-US" kern="0" spc="-7" dirty="0">
                <a:solidFill>
                  <a:srgbClr val="A50034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erif KR" pitchFamily="34" charset="-120"/>
              </a:rPr>
              <a:t>처음부터 계획합니다.</a:t>
            </a:r>
            <a:endParaRPr lang="en-US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4" name="Text 20"/>
          <p:cNvSpPr txBox="1"/>
          <p:nvPr/>
        </p:nvSpPr>
        <p:spPr>
          <a:xfrm>
            <a:off x="609905" y="8915400"/>
            <a:ext cx="17069105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29" dirty="0">
                <a:solidFill>
                  <a:srgbClr val="ECE5D6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erif KR" pitchFamily="34" charset="-120"/>
              </a:rPr>
              <a:t>TV를 고르기 전에, TV가 </a:t>
            </a:r>
            <a:r>
              <a:rPr lang="en-US" sz="3600" b="1" kern="0" spc="-29" dirty="0" err="1">
                <a:solidFill>
                  <a:srgbClr val="ECE5D6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erif KR" pitchFamily="34" charset="-120"/>
              </a:rPr>
              <a:t>들어갈</a:t>
            </a:r>
            <a:r>
              <a:rPr lang="en-US" sz="3600" b="1" kern="0" spc="-29" dirty="0">
                <a:solidFill>
                  <a:srgbClr val="ECE5D6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erif KR" pitchFamily="34" charset="-120"/>
              </a:rPr>
              <a:t> </a:t>
            </a:r>
            <a:r>
              <a:rPr lang="en-US" sz="3600" b="1" i="1" kern="0" spc="-29" dirty="0" err="1">
                <a:solidFill>
                  <a:srgbClr val="E9B1BF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Cormorant Garamond" pitchFamily="34" charset="-120"/>
              </a:rPr>
              <a:t>공간</a:t>
            </a:r>
            <a:r>
              <a:rPr lang="en-US" sz="3600" b="1" i="1" kern="0" spc="-29" dirty="0">
                <a:solidFill>
                  <a:srgbClr val="E9B1BF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Cormorant Garamond" pitchFamily="34" charset="-120"/>
              </a:rPr>
              <a:t> </a:t>
            </a:r>
            <a:r>
              <a:rPr lang="en-US" sz="3600" b="1" kern="0" spc="-29" dirty="0" err="1">
                <a:solidFill>
                  <a:srgbClr val="ECE5D6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erif KR" pitchFamily="34" charset="-120"/>
              </a:rPr>
              <a:t>부터</a:t>
            </a:r>
            <a:r>
              <a:rPr lang="en-US" sz="3600" b="1" kern="0" spc="-29" dirty="0">
                <a:solidFill>
                  <a:srgbClr val="ECE5D6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erif KR" pitchFamily="34" charset="-120"/>
              </a:rPr>
              <a:t> 확인하세요.</a:t>
            </a:r>
            <a:endParaRPr lang="en-US" sz="36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5" name="Text 21"/>
          <p:cNvSpPr txBox="1"/>
          <p:nvPr/>
        </p:nvSpPr>
        <p:spPr>
          <a:xfrm>
            <a:off x="609905" y="9658807"/>
            <a:ext cx="170691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kern="0" spc="64" dirty="0">
                <a:solidFill>
                  <a:srgbClr val="BDB39E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TV 크기 · 스탠드 형태 · TV장 크기 · 후면 구조 · 반매립 깊이 · 셋탑박스 · 사운드바 까지 함께 확인</a:t>
            </a:r>
            <a:endParaRPr lang="en-US" sz="16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38" name="Text 24"/>
          <p:cNvSpPr txBox="1"/>
          <p:nvPr/>
        </p:nvSpPr>
        <p:spPr>
          <a:xfrm>
            <a:off x="3219145" y="2228392"/>
            <a:ext cx="23628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중앙형 스탠드</a:t>
            </a:r>
            <a:endParaRPr lang="en-US" sz="16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0" name="Text 26"/>
          <p:cNvSpPr txBox="1"/>
          <p:nvPr/>
        </p:nvSpPr>
        <p:spPr>
          <a:xfrm>
            <a:off x="6037783" y="2237993"/>
            <a:ext cx="23628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Noto Sans KR" pitchFamily="34" charset="-120"/>
              </a:rPr>
              <a:t>사이드형 스탠드</a:t>
            </a:r>
            <a:endParaRPr lang="en-US" sz="16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  <p:sp>
        <p:nvSpPr>
          <p:cNvPr id="41" name="Text 27"/>
          <p:cNvSpPr txBox="1"/>
          <p:nvPr/>
        </p:nvSpPr>
        <p:spPr>
          <a:xfrm>
            <a:off x="9672974" y="2221059"/>
            <a:ext cx="20199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 i="1" kern="0" spc="147" dirty="0">
                <a:solidFill>
                  <a:srgbClr val="FFFFFF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  <a:cs typeface="Cormorant Garamond" pitchFamily="34" charset="-120"/>
              </a:rPr>
              <a:t>완전 밀착 형</a:t>
            </a:r>
            <a:endParaRPr lang="en-US" altLang="ko-KR" sz="1200" b="1" i="1" kern="0" spc="147" dirty="0">
              <a:solidFill>
                <a:srgbClr val="FFFFFF"/>
              </a:solidFill>
              <a:latin typeface="LG Smart UI Bold" panose="020B0800000101010101" pitchFamily="50" charset="-127"/>
              <a:ea typeface="LG Smart UI Bold" panose="020B0800000101010101" pitchFamily="50" charset="-127"/>
              <a:cs typeface="Cormorant Garamond" pitchFamily="34" charset="-120"/>
            </a:endParaRPr>
          </a:p>
        </p:txBody>
      </p:sp>
      <p:sp>
        <p:nvSpPr>
          <p:cNvPr id="42" name="Text 28"/>
          <p:cNvSpPr txBox="1"/>
          <p:nvPr/>
        </p:nvSpPr>
        <p:spPr>
          <a:xfrm>
            <a:off x="11840552" y="2221059"/>
            <a:ext cx="817504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ko-KR" altLang="en-US" sz="1200" b="1" i="1" kern="0" spc="126">
                <a:solidFill>
                  <a:srgbClr val="FFFFFF"/>
                </a:solidFill>
                <a:latin typeface="LG Smart UI Bold" panose="020B0800000101010101" pitchFamily="50" charset="-127"/>
                <a:ea typeface="LG Smart UI Bold" panose="020B0800000101010101" pitchFamily="50" charset="-127"/>
              </a:rPr>
              <a:t>하단 밀착형</a:t>
            </a:r>
            <a:endParaRPr lang="en-US" sz="1200" dirty="0">
              <a:latin typeface="LG Smart UI Bold" panose="020B0800000101010101" pitchFamily="50" charset="-127"/>
              <a:ea typeface="LG Smart UI Bold" panose="020B0800000101010101" pitchFamily="50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1962</Words>
  <Application>Microsoft Office PowerPoint</Application>
  <PresentationFormat>사용자 지정</PresentationFormat>
  <Paragraphs>499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4" baseType="lpstr">
      <vt:lpstr>LG Smart UI Bold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고덕점(O244901)</cp:lastModifiedBy>
  <cp:revision>59</cp:revision>
  <dcterms:created xsi:type="dcterms:W3CDTF">2026-09-28T11:20:57Z</dcterms:created>
  <dcterms:modified xsi:type="dcterms:W3CDTF">2026-09-30T09:55:54Z</dcterms:modified>
</cp:coreProperties>
</file>